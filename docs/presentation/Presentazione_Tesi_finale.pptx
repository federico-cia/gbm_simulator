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1B_5241438D.xml" ContentType="application/vnd.ms-powerpoint.comments+xml"/>
  <Override PartName="/ppt/comments/modernComment_11E_1C042EC6.xml" ContentType="application/vnd.ms-powerpoint.comments+xml"/>
  <Override PartName="/ppt/comments/modernComment_123_A76CFA9F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3" r:id="rId3"/>
    <p:sldId id="285" r:id="rId4"/>
    <p:sldId id="286" r:id="rId5"/>
    <p:sldId id="287" r:id="rId6"/>
    <p:sldId id="284" r:id="rId7"/>
    <p:sldId id="289" r:id="rId8"/>
    <p:sldId id="291" r:id="rId9"/>
    <p:sldId id="292" r:id="rId10"/>
    <p:sldId id="293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938509-D63B-CD32-1747-7842B876DBCC}" name="CIACIO FEDERICO" initials="FC" userId="S::f.ciacio@studenti.uniba.it::48fa1716-4e5a-483e-b585-6dd35ed3b9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D9AF"/>
    <a:srgbClr val="FFFFFF"/>
    <a:srgbClr val="F9F9F8"/>
    <a:srgbClr val="F4F3F1"/>
    <a:srgbClr val="B6C2C2"/>
    <a:srgbClr val="E8E6EF"/>
    <a:srgbClr val="0684D0"/>
    <a:srgbClr val="30A8E9"/>
    <a:srgbClr val="156082"/>
    <a:srgbClr val="FF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5039" autoAdjust="0"/>
  </p:normalViewPr>
  <p:slideViewPr>
    <p:cSldViewPr snapToGrid="0">
      <p:cViewPr>
        <p:scale>
          <a:sx n="70" d="100"/>
          <a:sy n="70" d="100"/>
        </p:scale>
        <p:origin x="-1858" y="-3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1B_524143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545BCC-195A-4D1E-BF1D-7CD6F99C511F}" authorId="{07938509-D63B-CD32-1747-7842B876DBCC}" created="2025-02-23T21:01:18.435">
    <pc:sldMkLst xmlns:pc="http://schemas.microsoft.com/office/powerpoint/2013/main/command">
      <pc:docMk/>
      <pc:sldMk cId="1380008845" sldId="283"/>
    </pc:sldMkLst>
    <p188:txBody>
      <a:bodyPr/>
      <a:lstStyle/>
      <a:p>
        <a:r>
          <a:rPr lang="it-IT"/>
          <a:t>Passaggio nel paper!</a:t>
        </a:r>
      </a:p>
    </p188:txBody>
  </p188:cm>
</p188:cmLst>
</file>

<file path=ppt/comments/modernComment_11E_1C042E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1B9607-8CA4-4463-9119-BEA4CF549AEC}" authorId="{07938509-D63B-CD32-1747-7842B876DBCC}" created="2025-02-23T20:58:58.060">
    <pc:sldMkLst xmlns:pc="http://schemas.microsoft.com/office/powerpoint/2013/main/command">
      <pc:docMk/>
      <pc:sldMk cId="470036166" sldId="286"/>
    </pc:sldMkLst>
    <p188:txBody>
      <a:bodyPr/>
      <a:lstStyle/>
      <a:p>
        <a:r>
          <a:rPr lang="it-IT"/>
          <a:t>Se sigma che produco con GARCH è quotidiano e mu è quotidiano pure, devo fare diviso num_days o no?</a:t>
        </a:r>
      </a:p>
    </p188:txBody>
  </p188:cm>
</p188:cmLst>
</file>

<file path=ppt/comments/modernComment_123_A76CFA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6D8716-B510-4971-94B3-4CAAD41797EF}" authorId="{07938509-D63B-CD32-1747-7842B876DBCC}" created="2025-02-23T21:05:52.524">
    <pc:sldMkLst xmlns:pc="http://schemas.microsoft.com/office/powerpoint/2013/main/command">
      <pc:docMk/>
      <pc:sldMk cId="2808937119" sldId="291"/>
    </pc:sldMkLst>
    <p188:txBody>
      <a:bodyPr/>
      <a:lstStyle/>
      <a:p>
        <a:r>
          <a:rPr lang="it-IT"/>
          <a:t>Sto utilizzando come mu la media dei rendimenti logaritmici. Va bene?
Perché in C.13 dX/X è d(logX) ed è uguale a mu. E’ più stabile ecc...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5241438D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1C042EC6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8/10/relationships/comments" Target="../comments/modernComment_123_A76CFA9F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85474058-BD37-D9CB-3E3F-9F9A0039EA9A}"/>
              </a:ext>
            </a:extLst>
          </p:cNvPr>
          <p:cNvSpPr txBox="1"/>
          <p:nvPr/>
        </p:nvSpPr>
        <p:spPr>
          <a:xfrm>
            <a:off x="3048000" y="2040879"/>
            <a:ext cx="6096000" cy="55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it-IT" b="1" dirty="0">
                <a:solidFill>
                  <a:srgbClr val="05D9AF"/>
                </a:solidFill>
              </a:rPr>
              <a:t>CORSO DI LAUREA IN </a:t>
            </a:r>
          </a:p>
          <a:p>
            <a:pPr algn="ctr">
              <a:lnSpc>
                <a:spcPts val="1800"/>
              </a:lnSpc>
            </a:pPr>
            <a:r>
              <a:rPr lang="it-IT" b="1" dirty="0"/>
              <a:t>ECONOMIA E COMMERCIO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xmlns="" id="{5A21BA64-3BB0-9C77-2853-9C7455BAB1AA}"/>
              </a:ext>
            </a:extLst>
          </p:cNvPr>
          <p:cNvSpPr txBox="1"/>
          <p:nvPr/>
        </p:nvSpPr>
        <p:spPr>
          <a:xfrm>
            <a:off x="3022600" y="156592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200" dirty="0"/>
              <a:t>Dipartimento di Economia e Finanza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5BBF22FB-5410-D9FC-1A9C-7A3B6B18E793}"/>
              </a:ext>
            </a:extLst>
          </p:cNvPr>
          <p:cNvSpPr txBox="1"/>
          <p:nvPr/>
        </p:nvSpPr>
        <p:spPr>
          <a:xfrm>
            <a:off x="3048000" y="3000088"/>
            <a:ext cx="6096000" cy="55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it-IT" b="1" dirty="0">
                <a:solidFill>
                  <a:srgbClr val="05D9AF"/>
                </a:solidFill>
              </a:rPr>
              <a:t>TESI DI LAUREA IN </a:t>
            </a:r>
          </a:p>
          <a:p>
            <a:pPr algn="ctr">
              <a:lnSpc>
                <a:spcPts val="1800"/>
              </a:lnSpc>
            </a:pPr>
            <a:r>
              <a:rPr lang="it-IT" b="1" dirty="0"/>
              <a:t>Matematica Finanziaria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xmlns="" id="{E92E452E-7326-50AB-01E9-83E72CD1CFF5}"/>
              </a:ext>
            </a:extLst>
          </p:cNvPr>
          <p:cNvSpPr txBox="1"/>
          <p:nvPr/>
        </p:nvSpPr>
        <p:spPr>
          <a:xfrm>
            <a:off x="3048000" y="62470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rgbClr val="05D9AF"/>
                </a:solidFill>
              </a:rPr>
              <a:t>Anno Accademico: </a:t>
            </a:r>
            <a:r>
              <a:rPr lang="it-IT" dirty="0"/>
              <a:t>2023/2024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xmlns="" id="{631C4C7A-522F-7C54-1FC1-D8E9FC63DEA3}"/>
              </a:ext>
            </a:extLst>
          </p:cNvPr>
          <p:cNvSpPr txBox="1"/>
          <p:nvPr/>
        </p:nvSpPr>
        <p:spPr>
          <a:xfrm>
            <a:off x="209550" y="5573509"/>
            <a:ext cx="422433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900" b="1" dirty="0">
                <a:solidFill>
                  <a:srgbClr val="05D9AF"/>
                </a:solidFill>
              </a:rPr>
              <a:t>Relatore: </a:t>
            </a:r>
            <a:r>
              <a:rPr lang="it-IT" sz="1900" dirty="0"/>
              <a:t>Professor</a:t>
            </a:r>
            <a:r>
              <a:rPr lang="it-IT" sz="1900" b="1" dirty="0">
                <a:solidFill>
                  <a:srgbClr val="05D9AF"/>
                </a:solidFill>
              </a:rPr>
              <a:t> </a:t>
            </a:r>
            <a:r>
              <a:rPr lang="it-IT" sz="1900" dirty="0"/>
              <a:t>Giovanni Villani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xmlns="" id="{4FEFD790-1215-3137-AB39-0388EDF869AC}"/>
              </a:ext>
            </a:extLst>
          </p:cNvPr>
          <p:cNvSpPr txBox="1"/>
          <p:nvPr/>
        </p:nvSpPr>
        <p:spPr>
          <a:xfrm>
            <a:off x="8591550" y="5573508"/>
            <a:ext cx="33909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900" b="1" dirty="0">
                <a:solidFill>
                  <a:srgbClr val="05D9AF"/>
                </a:solidFill>
              </a:rPr>
              <a:t>Laureando: </a:t>
            </a:r>
            <a:r>
              <a:rPr lang="it-IT" sz="1900" dirty="0"/>
              <a:t>Federico </a:t>
            </a:r>
            <a:r>
              <a:rPr lang="it-IT" sz="1900" dirty="0" err="1"/>
              <a:t>Ciacio</a:t>
            </a:r>
            <a:endParaRPr lang="it-IT" sz="1900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xmlns="" id="{75D61FD1-CA7E-8171-78BB-CC43B113D2E2}"/>
              </a:ext>
            </a:extLst>
          </p:cNvPr>
          <p:cNvSpPr txBox="1"/>
          <p:nvPr/>
        </p:nvSpPr>
        <p:spPr>
          <a:xfrm>
            <a:off x="2133600" y="3848383"/>
            <a:ext cx="7924800" cy="918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</a:pPr>
            <a:r>
              <a:rPr lang="it-IT" sz="3600" b="1" dirty="0">
                <a:solidFill>
                  <a:srgbClr val="05D9AF"/>
                </a:solidFill>
              </a:rPr>
              <a:t>Dinamica dei prezzi di Bitcoin in condizione di incertezza</a:t>
            </a:r>
            <a:endParaRPr lang="it-IT" sz="3600" b="1" dirty="0"/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xmlns="" id="{4B936019-E24E-D7B6-21F6-A1ABFCF8A73D}"/>
              </a:ext>
            </a:extLst>
          </p:cNvPr>
          <p:cNvCxnSpPr/>
          <p:nvPr/>
        </p:nvCxnSpPr>
        <p:spPr>
          <a:xfrm>
            <a:off x="177800" y="6055281"/>
            <a:ext cx="11785600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Immagine 20">
            <a:extLst>
              <a:ext uri="{FF2B5EF4-FFF2-40B4-BE49-F238E27FC236}">
                <a16:creationId xmlns:a16="http://schemas.microsoft.com/office/drawing/2014/main" xmlns="" id="{00A020C2-C842-F81E-7142-3955B75FF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888" y="375034"/>
            <a:ext cx="3324224" cy="985711"/>
          </a:xfrm>
          <a:prstGeom prst="rect">
            <a:avLst/>
          </a:prstGeom>
        </p:spPr>
      </p:pic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xmlns="" id="{238EAD03-A050-5FFE-35F3-60DEDCADA986}"/>
              </a:ext>
            </a:extLst>
          </p:cNvPr>
          <p:cNvCxnSpPr>
            <a:cxnSpLocks/>
          </p:cNvCxnSpPr>
          <p:nvPr/>
        </p:nvCxnSpPr>
        <p:spPr>
          <a:xfrm>
            <a:off x="1631950" y="2753281"/>
            <a:ext cx="8877300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008845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ccia a destra 5">
            <a:extLst>
              <a:ext uri="{FF2B5EF4-FFF2-40B4-BE49-F238E27FC236}">
                <a16:creationId xmlns:a16="http://schemas.microsoft.com/office/drawing/2014/main" xmlns="" id="{60F508B7-5857-14D9-4941-8DAF0B6031CD}"/>
              </a:ext>
            </a:extLst>
          </p:cNvPr>
          <p:cNvSpPr/>
          <p:nvPr/>
        </p:nvSpPr>
        <p:spPr>
          <a:xfrm rot="5400000">
            <a:off x="-1411745" y="3560309"/>
            <a:ext cx="5061856" cy="1076325"/>
          </a:xfrm>
          <a:prstGeom prst="rightArrow">
            <a:avLst/>
          </a:prstGeom>
          <a:solidFill>
            <a:srgbClr val="05D9AF"/>
          </a:solidFill>
          <a:ln>
            <a:solidFill>
              <a:srgbClr val="05D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CBAE00B6-4D60-8C4E-C607-C633D07AE144}"/>
              </a:ext>
            </a:extLst>
          </p:cNvPr>
          <p:cNvSpPr txBox="1"/>
          <p:nvPr/>
        </p:nvSpPr>
        <p:spPr>
          <a:xfrm>
            <a:off x="1790700" y="1956681"/>
            <a:ext cx="634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5D9AF"/>
                </a:solidFill>
              </a:rPr>
              <a:t>Obiettivo: </a:t>
            </a:r>
            <a:r>
              <a:rPr lang="it-IT" dirty="0"/>
              <a:t>modellizzare comportamento dei prezzi di Bitcoin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xmlns="" id="{9BA6065A-6B20-3479-5930-B4465232ADEE}"/>
              </a:ext>
            </a:extLst>
          </p:cNvPr>
          <p:cNvSpPr txBox="1"/>
          <p:nvPr/>
        </p:nvSpPr>
        <p:spPr>
          <a:xfrm>
            <a:off x="1809750" y="3083863"/>
            <a:ext cx="634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5D9AF"/>
                </a:solidFill>
              </a:rPr>
              <a:t>Modello: </a:t>
            </a:r>
            <a:r>
              <a:rPr lang="it-IT" dirty="0"/>
              <a:t>Moto Browniano Geometrico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xmlns="" id="{5F3F5985-A587-4635-6103-9FAB7E3BD17D}"/>
              </a:ext>
            </a:extLst>
          </p:cNvPr>
          <p:cNvSpPr txBox="1"/>
          <p:nvPr/>
        </p:nvSpPr>
        <p:spPr>
          <a:xfrm>
            <a:off x="6462712" y="3079789"/>
            <a:ext cx="332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Rappresentazione in Matlab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0D2FF406-0E95-7AF9-0579-566A0BF76498}"/>
              </a:ext>
            </a:extLst>
          </p:cNvPr>
          <p:cNvSpPr txBox="1"/>
          <p:nvPr/>
        </p:nvSpPr>
        <p:spPr>
          <a:xfrm>
            <a:off x="1809750" y="4202668"/>
            <a:ext cx="634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5D9AF"/>
                </a:solidFill>
              </a:rPr>
              <a:t>Scelta dei parametri: </a:t>
            </a:r>
            <a:r>
              <a:rPr lang="it-IT" dirty="0"/>
              <a:t>sigma e mu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xmlns="" id="{A2E8151C-3CA1-8D6E-5B43-E96C73F373B1}"/>
              </a:ext>
            </a:extLst>
          </p:cNvPr>
          <p:cNvSpPr txBox="1"/>
          <p:nvPr/>
        </p:nvSpPr>
        <p:spPr>
          <a:xfrm>
            <a:off x="1809750" y="5325547"/>
            <a:ext cx="634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5D9AF"/>
                </a:solidFill>
              </a:rPr>
              <a:t>Considerazioni finali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xmlns="" id="{1DC804A6-98A0-6E35-693C-3D1B820E6B06}"/>
              </a:ext>
            </a:extLst>
          </p:cNvPr>
          <p:cNvSpPr txBox="1"/>
          <p:nvPr/>
        </p:nvSpPr>
        <p:spPr>
          <a:xfrm>
            <a:off x="1986643" y="195008"/>
            <a:ext cx="8218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Introduzione</a:t>
            </a:r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xmlns="" id="{35AAE4D6-3237-E06B-99A9-B8978D18E44A}"/>
              </a:ext>
            </a:extLst>
          </p:cNvPr>
          <p:cNvCxnSpPr/>
          <p:nvPr/>
        </p:nvCxnSpPr>
        <p:spPr>
          <a:xfrm>
            <a:off x="838200" y="2271583"/>
            <a:ext cx="2057400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xmlns="" id="{0788675D-E48F-8280-CD12-AB4988D1E8A1}"/>
              </a:ext>
            </a:extLst>
          </p:cNvPr>
          <p:cNvCxnSpPr>
            <a:cxnSpLocks/>
          </p:cNvCxnSpPr>
          <p:nvPr/>
        </p:nvCxnSpPr>
        <p:spPr>
          <a:xfrm>
            <a:off x="838200" y="3392815"/>
            <a:ext cx="1970314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xmlns="" id="{BBA3F9A8-40EC-FE78-B596-0704F64D3846}"/>
              </a:ext>
            </a:extLst>
          </p:cNvPr>
          <p:cNvCxnSpPr>
            <a:cxnSpLocks/>
          </p:cNvCxnSpPr>
          <p:nvPr/>
        </p:nvCxnSpPr>
        <p:spPr>
          <a:xfrm>
            <a:off x="838200" y="4514039"/>
            <a:ext cx="3211286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xmlns="" id="{7DB2EB3E-12A3-5082-D801-2571DE8C829E}"/>
              </a:ext>
            </a:extLst>
          </p:cNvPr>
          <p:cNvCxnSpPr>
            <a:cxnSpLocks/>
          </p:cNvCxnSpPr>
          <p:nvPr/>
        </p:nvCxnSpPr>
        <p:spPr>
          <a:xfrm>
            <a:off x="859968" y="5635267"/>
            <a:ext cx="3211286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ccia a destra 22">
            <a:extLst>
              <a:ext uri="{FF2B5EF4-FFF2-40B4-BE49-F238E27FC236}">
                <a16:creationId xmlns:a16="http://schemas.microsoft.com/office/drawing/2014/main" xmlns="" id="{67228C10-AEDE-4202-A13D-6A7DD8773D33}"/>
              </a:ext>
            </a:extLst>
          </p:cNvPr>
          <p:cNvSpPr/>
          <p:nvPr/>
        </p:nvSpPr>
        <p:spPr>
          <a:xfrm>
            <a:off x="5887806" y="3162585"/>
            <a:ext cx="498704" cy="203739"/>
          </a:xfrm>
          <a:prstGeom prst="rightArrow">
            <a:avLst/>
          </a:prstGeom>
          <a:solidFill>
            <a:srgbClr val="05D9AF"/>
          </a:solidFill>
          <a:ln>
            <a:solidFill>
              <a:srgbClr val="05D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xmlns="" id="{C606C472-C4A9-1AE2-2D44-EEBCBFA82468}"/>
              </a:ext>
            </a:extLst>
          </p:cNvPr>
          <p:cNvSpPr txBox="1"/>
          <p:nvPr/>
        </p:nvSpPr>
        <p:spPr>
          <a:xfrm>
            <a:off x="6479723" y="4202668"/>
            <a:ext cx="290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Calcolo in Python</a:t>
            </a:r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xmlns="" id="{286937DA-5DD5-3A11-7AA1-E4EB85E2A433}"/>
              </a:ext>
            </a:extLst>
          </p:cNvPr>
          <p:cNvSpPr/>
          <p:nvPr/>
        </p:nvSpPr>
        <p:spPr>
          <a:xfrm>
            <a:off x="5431971" y="4305576"/>
            <a:ext cx="954538" cy="203739"/>
          </a:xfrm>
          <a:prstGeom prst="rightArrow">
            <a:avLst/>
          </a:prstGeom>
          <a:solidFill>
            <a:srgbClr val="05D9AF"/>
          </a:solidFill>
          <a:ln>
            <a:solidFill>
              <a:srgbClr val="05D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323284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xmlns="" id="{C74A10A5-DC65-8648-C121-CC876EA211F0}"/>
                  </a:ext>
                </a:extLst>
              </p:cNvPr>
              <p:cNvSpPr txBox="1"/>
              <p:nvPr/>
            </p:nvSpPr>
            <p:spPr>
              <a:xfrm>
                <a:off x="3178620" y="1244114"/>
                <a:ext cx="557688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200" i="1" smtClean="0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0">
                              <a:latin typeface="Cambria Math" panose="02040503050406030204" pitchFamily="18" charset="0"/>
                            </a:rPr>
                            <m:t> µ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2200" i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it-IT" sz="2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200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74A10A5-DC65-8648-C121-CC876EA21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620" y="1244114"/>
                <a:ext cx="5576882" cy="430887"/>
              </a:xfrm>
              <a:prstGeom prst="rect">
                <a:avLst/>
              </a:prstGeom>
              <a:blipFill>
                <a:blip r:embed="rId2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xmlns="" id="{5889947B-BBD5-B7BA-3F33-ACE4B57D40F9}"/>
              </a:ext>
            </a:extLst>
          </p:cNvPr>
          <p:cNvSpPr txBox="1"/>
          <p:nvPr/>
        </p:nvSpPr>
        <p:spPr>
          <a:xfrm>
            <a:off x="1986640" y="169608"/>
            <a:ext cx="8218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Moto browniano geometrico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xmlns="" id="{4B2533F4-36BF-ACFC-CD62-27A70E031959}"/>
              </a:ext>
            </a:extLst>
          </p:cNvPr>
          <p:cNvCxnSpPr>
            <a:cxnSpLocks/>
          </p:cNvCxnSpPr>
          <p:nvPr/>
        </p:nvCxnSpPr>
        <p:spPr>
          <a:xfrm>
            <a:off x="5967065" y="1739429"/>
            <a:ext cx="2" cy="653611"/>
          </a:xfrm>
          <a:prstGeom prst="straightConnector1">
            <a:avLst/>
          </a:prstGeom>
          <a:ln w="4445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xmlns="" id="{0ADD8C5A-C15F-D008-3A77-E9FF1866CD0E}"/>
                  </a:ext>
                </a:extLst>
              </p:cNvPr>
              <p:cNvSpPr txBox="1"/>
              <p:nvPr/>
            </p:nvSpPr>
            <p:spPr>
              <a:xfrm>
                <a:off x="3178629" y="2481306"/>
                <a:ext cx="5576879" cy="85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200" i="1" smtClean="0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it-IT" sz="2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it-IT" sz="22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it-IT" sz="2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it-IT" sz="2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it-IT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t-IT" sz="2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it-IT" sz="220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2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t-IT" sz="2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it-IT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it-IT" sz="22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it-IT" sz="2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22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rad>
                      <m:r>
                        <a:rPr lang="it-IT" sz="2200" b="0" i="0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0ADD8C5A-C15F-D008-3A77-E9FF1866C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629" y="2481306"/>
                <a:ext cx="5576879" cy="859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xmlns="" id="{4A841AE8-C215-C537-07F1-1E44AEECE606}"/>
                  </a:ext>
                </a:extLst>
              </p:cNvPr>
              <p:cNvSpPr txBox="1"/>
              <p:nvPr/>
            </p:nvSpPr>
            <p:spPr>
              <a:xfrm>
                <a:off x="3336469" y="3983882"/>
                <a:ext cx="5576879" cy="85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200" i="1" smtClean="0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it-IT" sz="22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it-IT" sz="2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it-IT" sz="2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it-IT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t-IT" sz="2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it-IT" sz="220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2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t-IT" sz="2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it-IT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it-IT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it-IT" sz="2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it-IT" sz="2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2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it-IT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  <m:r>
                        <a:rPr lang="it-IT" sz="2200" b="0" i="0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4A841AE8-C215-C537-07F1-1E44AEECE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469" y="3983882"/>
                <a:ext cx="5576879" cy="859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xmlns="" id="{C159C00D-1AA6-CB16-172C-C66E6EDD4CD6}"/>
                  </a:ext>
                </a:extLst>
              </p:cNvPr>
              <p:cNvSpPr txBox="1"/>
              <p:nvPr/>
            </p:nvSpPr>
            <p:spPr>
              <a:xfrm>
                <a:off x="3336469" y="5530002"/>
                <a:ext cx="5261197" cy="85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200" i="1" smtClean="0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sz="2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it-IT" sz="22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it-IT" sz="2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it-IT" sz="2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it-IT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t-IT" sz="2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it-IT" sz="220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2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t-IT" sz="2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it-IT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>
                        <m:fPr>
                          <m:ctrlPr>
                            <a:rPr lang="it-IT" sz="2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it-IT" sz="2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sz="220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200" i="1">
                                  <a:solidFill>
                                    <a:srgbClr val="836967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220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it-IT" sz="22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200" b="0" i="0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C159C00D-1AA6-CB16-172C-C66E6EDD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469" y="5530002"/>
                <a:ext cx="5261197" cy="8598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ttore 2 25">
            <a:extLst>
              <a:ext uri="{FF2B5EF4-FFF2-40B4-BE49-F238E27FC236}">
                <a16:creationId xmlns:a16="http://schemas.microsoft.com/office/drawing/2014/main" xmlns="" id="{E0E41663-0BAC-5450-F01E-37CA9F765260}"/>
              </a:ext>
            </a:extLst>
          </p:cNvPr>
          <p:cNvCxnSpPr>
            <a:cxnSpLocks/>
          </p:cNvCxnSpPr>
          <p:nvPr/>
        </p:nvCxnSpPr>
        <p:spPr>
          <a:xfrm>
            <a:off x="5967063" y="3328811"/>
            <a:ext cx="2" cy="653611"/>
          </a:xfrm>
          <a:prstGeom prst="straightConnector1">
            <a:avLst/>
          </a:prstGeom>
          <a:ln w="4445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xmlns="" id="{5DE77BA5-2AAB-5385-7EF7-D6BF1E0B4B37}"/>
              </a:ext>
            </a:extLst>
          </p:cNvPr>
          <p:cNvCxnSpPr>
            <a:cxnSpLocks/>
          </p:cNvCxnSpPr>
          <p:nvPr/>
        </p:nvCxnSpPr>
        <p:spPr>
          <a:xfrm>
            <a:off x="5967061" y="4891773"/>
            <a:ext cx="2" cy="653611"/>
          </a:xfrm>
          <a:prstGeom prst="straightConnector1">
            <a:avLst/>
          </a:prstGeom>
          <a:ln w="4445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xmlns="" id="{2CEA8C95-BF49-8A21-EBD4-EBB243CE23C8}"/>
              </a:ext>
            </a:extLst>
          </p:cNvPr>
          <p:cNvSpPr txBox="1"/>
          <p:nvPr/>
        </p:nvSpPr>
        <p:spPr>
          <a:xfrm>
            <a:off x="6046654" y="1914464"/>
            <a:ext cx="929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5D9AF"/>
                </a:solidFill>
              </a:rPr>
              <a:t>risolvo</a:t>
            </a:r>
            <a:endParaRPr lang="it-IT" b="1" dirty="0">
              <a:solidFill>
                <a:srgbClr val="05D9AF"/>
              </a:solidFill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xmlns="" id="{935D7506-5921-B55C-933C-39C6E60B79E4}"/>
              </a:ext>
            </a:extLst>
          </p:cNvPr>
          <p:cNvSpPr txBox="1"/>
          <p:nvPr/>
        </p:nvSpPr>
        <p:spPr>
          <a:xfrm>
            <a:off x="6046654" y="3492512"/>
            <a:ext cx="1268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5D9AF"/>
                </a:solidFill>
              </a:rPr>
              <a:t>discretizzo</a:t>
            </a:r>
            <a:endParaRPr lang="it-IT" b="1" dirty="0">
              <a:solidFill>
                <a:srgbClr val="05D9AF"/>
              </a:solidFill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xmlns="" id="{634BD4F9-6EC9-AAC9-2D19-A9AE591787E2}"/>
              </a:ext>
            </a:extLst>
          </p:cNvPr>
          <p:cNvSpPr txBox="1"/>
          <p:nvPr/>
        </p:nvSpPr>
        <p:spPr>
          <a:xfrm>
            <a:off x="6046654" y="5049301"/>
            <a:ext cx="4954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5D9AF"/>
                </a:solidFill>
              </a:rPr>
              <a:t>Assumo che delta t è 1/n, cioè frazione dell’anno</a:t>
            </a:r>
            <a:endParaRPr lang="it-IT" b="1" dirty="0">
              <a:solidFill>
                <a:srgbClr val="05D9A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xmlns="" id="{05A94559-D61C-8394-D466-A0109AC5914C}"/>
                  </a:ext>
                </a:extLst>
              </p:cNvPr>
              <p:cNvSpPr txBox="1"/>
              <p:nvPr/>
            </p:nvSpPr>
            <p:spPr>
              <a:xfrm>
                <a:off x="8035060" y="1690935"/>
                <a:ext cx="1813830" cy="260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05A94559-D61C-8394-D466-A0109AC59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060" y="1690935"/>
                <a:ext cx="1813830" cy="260521"/>
              </a:xfrm>
              <a:prstGeom prst="rect">
                <a:avLst/>
              </a:prstGeom>
              <a:blipFill>
                <a:blip r:embed="rId6"/>
                <a:stretch>
                  <a:fillRect l="-2013" r="-1678" b="-116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xmlns="" id="{DC71EEF3-0ABC-C33F-9206-EC069B81096B}"/>
                  </a:ext>
                </a:extLst>
              </p:cNvPr>
              <p:cNvSpPr txBox="1"/>
              <p:nvPr/>
            </p:nvSpPr>
            <p:spPr>
              <a:xfrm>
                <a:off x="10533691" y="1702340"/>
                <a:ext cx="1233415" cy="280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it-IT" sz="1600" i="1">
                              <a:solidFill>
                                <a:srgbClr val="83696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rad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DC71EEF3-0ABC-C33F-9206-EC069B810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691" y="1702340"/>
                <a:ext cx="1233415" cy="280141"/>
              </a:xfrm>
              <a:prstGeom prst="rect">
                <a:avLst/>
              </a:prstGeom>
              <a:blipFill>
                <a:blip r:embed="rId7"/>
                <a:stretch>
                  <a:fillRect l="-3960" r="-3465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ttore 2 35">
            <a:extLst>
              <a:ext uri="{FF2B5EF4-FFF2-40B4-BE49-F238E27FC236}">
                <a16:creationId xmlns:a16="http://schemas.microsoft.com/office/drawing/2014/main" xmlns="" id="{B8B7B27E-5BCE-3D6A-9FDB-F6BDB25AE0D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7514529" y="1600279"/>
            <a:ext cx="520531" cy="220917"/>
          </a:xfrm>
          <a:prstGeom prst="straightConnector1">
            <a:avLst/>
          </a:prstGeom>
          <a:ln w="1905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xmlns="" id="{E08D2448-CE81-166A-D3ED-5BE657222BBD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9923772" y="1842410"/>
            <a:ext cx="609919" cy="1"/>
          </a:xfrm>
          <a:prstGeom prst="straightConnector1">
            <a:avLst/>
          </a:prstGeom>
          <a:ln w="1905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Arco 42">
            <a:extLst>
              <a:ext uri="{FF2B5EF4-FFF2-40B4-BE49-F238E27FC236}">
                <a16:creationId xmlns:a16="http://schemas.microsoft.com/office/drawing/2014/main" xmlns="" id="{20F56D05-B862-913A-2667-E5DBA12B9C1E}"/>
              </a:ext>
            </a:extLst>
          </p:cNvPr>
          <p:cNvSpPr/>
          <p:nvPr/>
        </p:nvSpPr>
        <p:spPr>
          <a:xfrm>
            <a:off x="6927137" y="1254251"/>
            <a:ext cx="659358" cy="430888"/>
          </a:xfrm>
          <a:prstGeom prst="arc">
            <a:avLst>
              <a:gd name="adj1" fmla="val 16200000"/>
              <a:gd name="adj2" fmla="val 16098919"/>
            </a:avLst>
          </a:prstGeom>
          <a:ln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512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5">
            <a:extLst>
              <a:ext uri="{FF2B5EF4-FFF2-40B4-BE49-F238E27FC236}">
                <a16:creationId xmlns:a16="http://schemas.microsoft.com/office/drawing/2014/main" xmlns="" id="{CEC292C3-EA43-E807-C5E9-121AC71FFD98}"/>
              </a:ext>
            </a:extLst>
          </p:cNvPr>
          <p:cNvSpPr txBox="1"/>
          <p:nvPr/>
        </p:nvSpPr>
        <p:spPr>
          <a:xfrm>
            <a:off x="227915" y="845103"/>
            <a:ext cx="8839885" cy="5760551"/>
          </a:xfrm>
          <a:prstGeom prst="rect">
            <a:avLst/>
          </a:prstGeom>
          <a:solidFill>
            <a:schemeClr val="bg1"/>
          </a:solidFill>
          <a:ln>
            <a:solidFill>
              <a:srgbClr val="05D9A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endParaRPr lang="it-IT" sz="1500" kern="1200" dirty="0" smtClean="0">
              <a:solidFill>
                <a:srgbClr val="0E00FF"/>
              </a:solidFill>
              <a:effectLst/>
              <a:latin typeface="Menlo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 err="1" smtClean="0">
                <a:solidFill>
                  <a:srgbClr val="0E00FF"/>
                </a:solidFill>
                <a:effectLst/>
                <a:latin typeface="Menlo"/>
              </a:rPr>
              <a:t>function</a:t>
            </a:r>
            <a:r>
              <a:rPr lang="it-IT" sz="1500" kern="1200" dirty="0" smtClean="0">
                <a:solidFill>
                  <a:srgbClr val="0E00FF"/>
                </a:solidFill>
                <a:effectLst/>
                <a:latin typeface="Menlo"/>
              </a:rPr>
              <a:t> </a:t>
            </a: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simulate_GBM(num_days, sigma, mu, initial_price, num_simulations)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t = 0:num_days;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figure;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hold on;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xlabel('Days’)</a:t>
            </a: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                </a:t>
            </a: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ylabel('Bitcoin Price’);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title('</a:t>
            </a:r>
            <a:r>
              <a:rPr lang="it-IT" sz="1500" kern="1200" dirty="0" err="1">
                <a:solidFill>
                  <a:srgbClr val="000000"/>
                </a:solidFill>
                <a:effectLst/>
                <a:latin typeface="Menlo"/>
              </a:rPr>
              <a:t>Geometrical</a:t>
            </a: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Brownian Motion - Bitcoin Price Simulation’);</a:t>
            </a:r>
          </a:p>
          <a:p>
            <a:pPr>
              <a:lnSpc>
                <a:spcPts val="1700"/>
              </a:lnSpc>
              <a:spcAft>
                <a:spcPts val="0"/>
              </a:spcAft>
            </a:pP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</a:t>
            </a: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for   i = 1:num_simulations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    Z = randn(1, num_days);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    S = zeros(1, num_days+1);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    S(1) = initial_price</a:t>
            </a: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                        </a:t>
            </a:r>
            <a:r>
              <a:rPr lang="it-IT" sz="1500" kern="1200" dirty="0">
                <a:solidFill>
                  <a:srgbClr val="0E00FF"/>
                </a:solidFill>
                <a:effectLst/>
                <a:latin typeface="Menlo"/>
              </a:rPr>
              <a:t>for</a:t>
            </a: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   </a:t>
            </a: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j = 2:num_days+1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            S(j) = S(j-1) * exp((mu - 0.5*sigma^2)/num_days + sigma*Z(j-1)/sqrt(num_days));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    </a:t>
            </a:r>
            <a:r>
              <a:rPr lang="it-IT" sz="1500" kern="120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    plot(t, S, '</a:t>
            </a:r>
            <a:r>
              <a:rPr lang="it-IT" sz="1500" kern="1200" dirty="0" err="1">
                <a:solidFill>
                  <a:srgbClr val="000000"/>
                </a:solidFill>
                <a:effectLst/>
                <a:latin typeface="Menlo"/>
              </a:rPr>
              <a:t>LineWidth</a:t>
            </a: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', 0.9);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</a:t>
            </a: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it-IT" sz="1500" kern="120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K=zeros(1, num_days+1);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K(1)=initial_price;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</a:t>
            </a:r>
            <a:r>
              <a:rPr lang="it-IT" sz="1500" kern="1200" dirty="0">
                <a:solidFill>
                  <a:srgbClr val="0E00FF"/>
                </a:solidFill>
                <a:effectLst/>
                <a:latin typeface="Menlo"/>
              </a:rPr>
              <a:t>for</a:t>
            </a:r>
            <a:r>
              <a:rPr lang="it-IT" sz="1500" kern="1200" dirty="0">
                <a:solidFill>
                  <a:srgbClr val="FFFFFF"/>
                </a:solidFill>
                <a:effectLst/>
                <a:latin typeface="Menlo"/>
              </a:rPr>
              <a:t>   </a:t>
            </a: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i=2:num_days+1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        K(i)=K(i-1)*exp(mu/num_days);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</a:t>
            </a:r>
            <a:r>
              <a:rPr lang="it-IT" sz="1500" kern="120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00000"/>
                </a:solidFill>
                <a:effectLst/>
                <a:latin typeface="Menlo"/>
              </a:rPr>
              <a:t>                plot(t,K,'color','k','Linewidth',1.5)</a:t>
            </a:r>
            <a:endParaRPr lang="it-IT" sz="1500" dirty="0">
              <a:effectLst/>
              <a:latin typeface="Times New Roman"/>
              <a:ea typeface="Times New Roman"/>
            </a:endParaRPr>
          </a:p>
          <a:p>
            <a:pPr>
              <a:lnSpc>
                <a:spcPts val="1700"/>
              </a:lnSpc>
              <a:spcAft>
                <a:spcPts val="0"/>
              </a:spcAft>
            </a:pPr>
            <a:r>
              <a:rPr lang="it-IT" sz="1500" kern="120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500" dirty="0">
              <a:effectLst/>
              <a:latin typeface="Times New Roman"/>
              <a:ea typeface="Times New Roman"/>
            </a:endParaRPr>
          </a:p>
        </p:txBody>
      </p:sp>
      <p:sp>
        <p:nvSpPr>
          <p:cNvPr id="5" name="Parentesi quadra chiusa 4">
            <a:extLst>
              <a:ext uri="{FF2B5EF4-FFF2-40B4-BE49-F238E27FC236}">
                <a16:creationId xmlns:a16="http://schemas.microsoft.com/office/drawing/2014/main" xmlns="" id="{4CAF5ACA-349E-1600-F45E-541FEFB11A1E}"/>
              </a:ext>
            </a:extLst>
          </p:cNvPr>
          <p:cNvSpPr/>
          <p:nvPr/>
        </p:nvSpPr>
        <p:spPr>
          <a:xfrm>
            <a:off x="2819399" y="979715"/>
            <a:ext cx="5194301" cy="1730828"/>
          </a:xfrm>
          <a:prstGeom prst="rightBracket">
            <a:avLst/>
          </a:prstGeom>
          <a:ln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5D9AF"/>
              </a:solidFill>
            </a:endParaRPr>
          </a:p>
        </p:txBody>
      </p:sp>
      <p:sp>
        <p:nvSpPr>
          <p:cNvPr id="6" name="Parentesi quadra chiusa 5">
            <a:extLst>
              <a:ext uri="{FF2B5EF4-FFF2-40B4-BE49-F238E27FC236}">
                <a16:creationId xmlns:a16="http://schemas.microsoft.com/office/drawing/2014/main" xmlns="" id="{CBFD60EB-6ECF-3710-A057-AE80821C9EC1}"/>
              </a:ext>
            </a:extLst>
          </p:cNvPr>
          <p:cNvSpPr/>
          <p:nvPr/>
        </p:nvSpPr>
        <p:spPr>
          <a:xfrm>
            <a:off x="2819399" y="2819400"/>
            <a:ext cx="6117772" cy="1992086"/>
          </a:xfrm>
          <a:prstGeom prst="rightBracket">
            <a:avLst/>
          </a:prstGeom>
          <a:ln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Parentesi quadra chiusa 6">
            <a:extLst>
              <a:ext uri="{FF2B5EF4-FFF2-40B4-BE49-F238E27FC236}">
                <a16:creationId xmlns:a16="http://schemas.microsoft.com/office/drawing/2014/main" xmlns="" id="{CA4892F2-6921-CD41-D2F0-4E04D3959A09}"/>
              </a:ext>
            </a:extLst>
          </p:cNvPr>
          <p:cNvSpPr/>
          <p:nvPr/>
        </p:nvSpPr>
        <p:spPr>
          <a:xfrm>
            <a:off x="2819397" y="4898571"/>
            <a:ext cx="4038603" cy="1651519"/>
          </a:xfrm>
          <a:prstGeom prst="rightBracket">
            <a:avLst/>
          </a:prstGeom>
          <a:ln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xmlns="" id="{75707DB5-3D6C-FBFA-3C15-A3A51E4184EF}"/>
              </a:ext>
            </a:extLst>
          </p:cNvPr>
          <p:cNvSpPr txBox="1"/>
          <p:nvPr/>
        </p:nvSpPr>
        <p:spPr>
          <a:xfrm>
            <a:off x="9818924" y="561197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Linea di tendenza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DAA0988F-D3EB-D6CD-09BC-C751D9459103}"/>
              </a:ext>
            </a:extLst>
          </p:cNvPr>
          <p:cNvSpPr txBox="1"/>
          <p:nvPr/>
        </p:nvSpPr>
        <p:spPr>
          <a:xfrm>
            <a:off x="9579456" y="363972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Simulazione movimento browniano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xmlns="" id="{F38C0947-6DCB-D6DB-E7B1-50E22295DB53}"/>
              </a:ext>
            </a:extLst>
          </p:cNvPr>
          <p:cNvSpPr txBox="1"/>
          <p:nvPr/>
        </p:nvSpPr>
        <p:spPr>
          <a:xfrm>
            <a:off x="9546781" y="1738621"/>
            <a:ext cx="2547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Preparazione grafico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xmlns="" id="{FE50E7B8-FF35-944A-EF5B-2D92DE85758A}"/>
              </a:ext>
            </a:extLst>
          </p:cNvPr>
          <p:cNvSpPr txBox="1"/>
          <p:nvPr/>
        </p:nvSpPr>
        <p:spPr>
          <a:xfrm>
            <a:off x="2242456" y="64380"/>
            <a:ext cx="8218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Implementazione in Matlab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xmlns="" id="{CE5B284D-1B9D-A770-3C08-12B300E14885}"/>
              </a:ext>
            </a:extLst>
          </p:cNvPr>
          <p:cNvCxnSpPr>
            <a:cxnSpLocks/>
            <a:stCxn id="5" idx="2"/>
            <a:endCxn id="15" idx="1"/>
          </p:cNvCxnSpPr>
          <p:nvPr/>
        </p:nvCxnSpPr>
        <p:spPr>
          <a:xfrm>
            <a:off x="8013700" y="1845129"/>
            <a:ext cx="1533081" cy="78158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xmlns="" id="{799D989F-CD78-A709-0F79-043C93D14C7F}"/>
              </a:ext>
            </a:extLst>
          </p:cNvPr>
          <p:cNvCxnSpPr>
            <a:cxnSpLocks/>
            <a:stCxn id="6" idx="2"/>
            <a:endCxn id="14" idx="1"/>
          </p:cNvCxnSpPr>
          <p:nvPr/>
        </p:nvCxnSpPr>
        <p:spPr>
          <a:xfrm>
            <a:off x="8937171" y="3815443"/>
            <a:ext cx="642285" cy="8945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xmlns="" id="{6775320F-145D-6061-12D0-BCEE6EB8B531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>
            <a:off x="6858000" y="5724331"/>
            <a:ext cx="2960924" cy="72311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ccia in su 39">
            <a:extLst>
              <a:ext uri="{FF2B5EF4-FFF2-40B4-BE49-F238E27FC236}">
                <a16:creationId xmlns:a16="http://schemas.microsoft.com/office/drawing/2014/main" xmlns="" id="{3712E528-00DA-4B02-DE16-F591A205E7EF}"/>
              </a:ext>
            </a:extLst>
          </p:cNvPr>
          <p:cNvSpPr/>
          <p:nvPr/>
        </p:nvSpPr>
        <p:spPr>
          <a:xfrm rot="18213455">
            <a:off x="7346486" y="4098382"/>
            <a:ext cx="189610" cy="62495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Freccia in su 40">
            <a:extLst>
              <a:ext uri="{FF2B5EF4-FFF2-40B4-BE49-F238E27FC236}">
                <a16:creationId xmlns:a16="http://schemas.microsoft.com/office/drawing/2014/main" xmlns="" id="{90EDC1D3-FBA8-2D56-A543-C7AEBBDCB7D4}"/>
              </a:ext>
            </a:extLst>
          </p:cNvPr>
          <p:cNvSpPr/>
          <p:nvPr/>
        </p:nvSpPr>
        <p:spPr>
          <a:xfrm rot="18213455">
            <a:off x="4431092" y="5776519"/>
            <a:ext cx="189610" cy="62495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0036166"/>
      </p:ext>
    </p:extLst>
  </p:cSld>
  <p:clrMapOvr>
    <a:masterClrMapping/>
  </p:clrMapOvr>
  <p:transition spd="slow">
    <p:push dir="u"/>
  </p:transition>
  <p:extLst mod="1">
    <p:ext uri="{6950BFC3-D8DA-4A85-94F7-54DA5524770B}">
      <p188:commentRel xmlns:p188="http://schemas.microsoft.com/office/powerpoint/2018/8/main" xmlns="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xmlns="" id="{A1ACA96F-FB52-FDAA-1EF6-CEF470E2D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54685"/>
              </p:ext>
            </p:extLst>
          </p:nvPr>
        </p:nvGraphicFramePr>
        <p:xfrm>
          <a:off x="141514" y="631371"/>
          <a:ext cx="11917135" cy="6176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972">
                  <a:extLst>
                    <a:ext uri="{9D8B030D-6E8A-4147-A177-3AD203B41FA5}">
                      <a16:colId xmlns:a16="http://schemas.microsoft.com/office/drawing/2014/main" xmlns="" val="4284198487"/>
                    </a:ext>
                  </a:extLst>
                </a:gridCol>
                <a:gridCol w="3627664">
                  <a:extLst>
                    <a:ext uri="{9D8B030D-6E8A-4147-A177-3AD203B41FA5}">
                      <a16:colId xmlns:a16="http://schemas.microsoft.com/office/drawing/2014/main" xmlns="" val="1109357295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xmlns="" val="2215651560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xmlns="" val="35324255"/>
                    </a:ext>
                  </a:extLst>
                </a:gridCol>
              </a:tblGrid>
              <a:tr h="704142">
                <a:tc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rgbClr val="F9F9F8"/>
                        </a:solidFill>
                      </a:endParaRPr>
                    </a:p>
                  </a:txBody>
                  <a:tcPr anchor="ctr">
                    <a:solidFill>
                      <a:srgbClr val="05D9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F9F9F8"/>
                          </a:solidFill>
                        </a:rPr>
                        <a:t>0.02</a:t>
                      </a:r>
                    </a:p>
                  </a:txBody>
                  <a:tcPr anchor="ctr">
                    <a:solidFill>
                      <a:srgbClr val="05D9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F9F9F8"/>
                          </a:solidFill>
                        </a:rPr>
                        <a:t>0.04</a:t>
                      </a:r>
                    </a:p>
                  </a:txBody>
                  <a:tcPr anchor="ctr">
                    <a:solidFill>
                      <a:srgbClr val="05D9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F9F9F8"/>
                          </a:solidFill>
                        </a:rPr>
                        <a:t>0.06</a:t>
                      </a:r>
                    </a:p>
                  </a:txBody>
                  <a:tcPr anchor="ctr">
                    <a:solidFill>
                      <a:srgbClr val="05D9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87328508"/>
                  </a:ext>
                </a:extLst>
              </a:tr>
              <a:tr h="2837780"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rgbClr val="F9F9F8"/>
                          </a:solidFill>
                        </a:rPr>
                        <a:t>0.1</a:t>
                      </a:r>
                    </a:p>
                  </a:txBody>
                  <a:tcPr anchor="ctr">
                    <a:solidFill>
                      <a:srgbClr val="05D9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solidFill>
                      <a:srgbClr val="F9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solidFill>
                      <a:srgbClr val="F9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solidFill>
                      <a:srgbClr val="F9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82391448"/>
                  </a:ext>
                </a:extLst>
              </a:tr>
              <a:tr h="2634247"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rgbClr val="F9F9F8"/>
                          </a:solidFill>
                        </a:rPr>
                        <a:t>0.2</a:t>
                      </a:r>
                    </a:p>
                  </a:txBody>
                  <a:tcPr anchor="ctr">
                    <a:solidFill>
                      <a:srgbClr val="05D9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solidFill>
                      <a:srgbClr val="F9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solidFill>
                      <a:srgbClr val="F9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solidFill>
                      <a:srgbClr val="F9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0792091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A94044C0-64FE-67A3-08DC-1284418CAA69}"/>
              </a:ext>
            </a:extLst>
          </p:cNvPr>
          <p:cNvSpPr txBox="1"/>
          <p:nvPr/>
        </p:nvSpPr>
        <p:spPr>
          <a:xfrm>
            <a:off x="2792185" y="50460"/>
            <a:ext cx="7385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Simulazioni al variare dei parametri</a:t>
            </a:r>
          </a:p>
        </p:txBody>
      </p:sp>
      <p:pic>
        <p:nvPicPr>
          <p:cNvPr id="21" name="Immagine 20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xmlns="" id="{E359F701-5803-2876-51ED-345272814C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01" y="1371706"/>
            <a:ext cx="3168968" cy="2590179"/>
          </a:xfrm>
          <a:prstGeom prst="rect">
            <a:avLst/>
          </a:prstGeom>
        </p:spPr>
      </p:pic>
      <p:pic>
        <p:nvPicPr>
          <p:cNvPr id="23" name="Immagine 22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xmlns="" id="{151FB383-93D1-A085-240A-40E09860E8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790" y="1371706"/>
            <a:ext cx="3168967" cy="2593539"/>
          </a:xfrm>
          <a:prstGeom prst="rect">
            <a:avLst/>
          </a:prstGeom>
        </p:spPr>
      </p:pic>
      <p:pic>
        <p:nvPicPr>
          <p:cNvPr id="25" name="Immagine 24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xmlns="" id="{E2F5881F-7F5D-2677-01EF-22ADBC9C3D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878" y="1371706"/>
            <a:ext cx="3173077" cy="2593539"/>
          </a:xfrm>
          <a:prstGeom prst="rect">
            <a:avLst/>
          </a:prstGeom>
        </p:spPr>
      </p:pic>
      <p:pic>
        <p:nvPicPr>
          <p:cNvPr id="27" name="Immagine 26" descr="Immagine che contiene Diagramma, diagramma, testo, linea&#10;&#10;Il contenuto generato dall'IA potrebbe non essere corretto.">
            <a:extLst>
              <a:ext uri="{FF2B5EF4-FFF2-40B4-BE49-F238E27FC236}">
                <a16:creationId xmlns:a16="http://schemas.microsoft.com/office/drawing/2014/main" xmlns="" id="{CC489984-BBAD-4BB8-5AD1-E108A119B3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659" y="4191202"/>
            <a:ext cx="3168967" cy="2590179"/>
          </a:xfrm>
          <a:prstGeom prst="rect">
            <a:avLst/>
          </a:prstGeom>
        </p:spPr>
      </p:pic>
      <p:pic>
        <p:nvPicPr>
          <p:cNvPr id="29" name="Immagine 28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xmlns="" id="{73AF8E5B-688B-8721-2C69-36B948BB6C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49" y="4217361"/>
            <a:ext cx="3464518" cy="2590179"/>
          </a:xfrm>
          <a:prstGeom prst="rect">
            <a:avLst/>
          </a:prstGeom>
        </p:spPr>
      </p:pic>
      <p:pic>
        <p:nvPicPr>
          <p:cNvPr id="31" name="Immagine 30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xmlns="" id="{89DD8777-05EB-8491-41C8-1FA0C86129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790" y="4191203"/>
            <a:ext cx="3168967" cy="2590179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xmlns="" id="{C5E9E799-9261-70BE-9933-BA23738C1A3C}"/>
              </a:ext>
            </a:extLst>
          </p:cNvPr>
          <p:cNvCxnSpPr>
            <a:cxnSpLocks/>
          </p:cNvCxnSpPr>
          <p:nvPr/>
        </p:nvCxnSpPr>
        <p:spPr>
          <a:xfrm>
            <a:off x="141514" y="692648"/>
            <a:ext cx="805543" cy="556172"/>
          </a:xfrm>
          <a:prstGeom prst="line">
            <a:avLst/>
          </a:prstGeom>
          <a:ln w="28575">
            <a:solidFill>
              <a:srgbClr val="F9F9F8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xmlns="" id="{F884DB21-C8B3-0EE1-2525-D6FFF4280A95}"/>
                  </a:ext>
                </a:extLst>
              </p:cNvPr>
              <p:cNvSpPr txBox="1"/>
              <p:nvPr/>
            </p:nvSpPr>
            <p:spPr>
              <a:xfrm>
                <a:off x="463400" y="598712"/>
                <a:ext cx="6519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1" i="1">
                              <a:solidFill>
                                <a:srgbClr val="F9F9F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400" b="1">
                              <a:solidFill>
                                <a:srgbClr val="F9F9F8"/>
                              </a:solidFill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it-IT" sz="2400" b="1">
                              <a:solidFill>
                                <a:srgbClr val="F9F9F8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it-IT" sz="2400" b="1" dirty="0">
                  <a:solidFill>
                    <a:srgbClr val="F9F9F8"/>
                  </a:solidFill>
                </a:endParaRPr>
              </a:p>
            </p:txBody>
          </p:sp>
        </mc:Choice>
        <mc:Fallback xmlns="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F884DB21-C8B3-0EE1-2525-D6FFF4280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00" y="598712"/>
                <a:ext cx="65193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xmlns="" id="{1B4DD944-AC74-215B-5688-FB9AB527D5AC}"/>
                  </a:ext>
                </a:extLst>
              </p:cNvPr>
              <p:cNvSpPr txBox="1"/>
              <p:nvPr/>
            </p:nvSpPr>
            <p:spPr>
              <a:xfrm>
                <a:off x="141514" y="848710"/>
                <a:ext cx="4656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1" i="1">
                              <a:solidFill>
                                <a:srgbClr val="F9F9F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2400" b="1">
                              <a:solidFill>
                                <a:srgbClr val="F9F9F8"/>
                              </a:solidFill>
                              <a:latin typeface="Cambria Math"/>
                            </a:rPr>
                            <m:t> µ</m:t>
                          </m:r>
                        </m:e>
                        <m:sub>
                          <m:r>
                            <a:rPr lang="it-IT" sz="2400" b="1">
                              <a:solidFill>
                                <a:srgbClr val="F9F9F8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it-IT" sz="2400" b="1" dirty="0">
                  <a:solidFill>
                    <a:srgbClr val="F9F9F8"/>
                  </a:solidFill>
                </a:endParaRPr>
              </a:p>
            </p:txBody>
          </p:sp>
        </mc:Choice>
        <mc:Fallback xmlns=""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1B4DD944-AC74-215B-5688-FB9AB527D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14" y="848710"/>
                <a:ext cx="465667" cy="461665"/>
              </a:xfrm>
              <a:prstGeom prst="rect">
                <a:avLst/>
              </a:prstGeom>
              <a:blipFill>
                <a:blip r:embed="rId9"/>
                <a:stretch>
                  <a:fillRect r="-3896" b="-78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32151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xmlns="" id="{D8CB4029-D919-CBE6-16F5-21ABE5FB2AAD}"/>
              </a:ext>
            </a:extLst>
          </p:cNvPr>
          <p:cNvSpPr txBox="1"/>
          <p:nvPr/>
        </p:nvSpPr>
        <p:spPr>
          <a:xfrm>
            <a:off x="1986643" y="157907"/>
            <a:ext cx="8218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Volatilità di Bitcoin: le cause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xmlns="" id="{B7D9DC9B-7AC9-022F-BF02-DB76F98DE0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1209" y="1073265"/>
            <a:ext cx="3654878" cy="211896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xmlns="" id="{F6B36572-95CE-6C2A-D789-82067596466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21907" y="1062834"/>
            <a:ext cx="3654878" cy="211896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61E3F021-CC1A-4EAE-C4A5-CC7EBEABAE52}"/>
              </a:ext>
            </a:extLst>
          </p:cNvPr>
          <p:cNvSpPr txBox="1"/>
          <p:nvPr/>
        </p:nvSpPr>
        <p:spPr>
          <a:xfrm>
            <a:off x="2313418" y="4190791"/>
            <a:ext cx="299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Dinamica offerta-domanda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xmlns="" id="{302592CC-E767-65B2-821E-0D8067D224CE}"/>
              </a:ext>
            </a:extLst>
          </p:cNvPr>
          <p:cNvCxnSpPr>
            <a:cxnSpLocks/>
          </p:cNvCxnSpPr>
          <p:nvPr/>
        </p:nvCxnSpPr>
        <p:spPr>
          <a:xfrm>
            <a:off x="1792923" y="4375457"/>
            <a:ext cx="393705" cy="0"/>
          </a:xfrm>
          <a:prstGeom prst="straightConnector1">
            <a:avLst/>
          </a:prstGeom>
          <a:ln w="7620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xmlns="" id="{29B40A2C-A49D-D2DE-B18D-FD434A548BD4}"/>
              </a:ext>
            </a:extLst>
          </p:cNvPr>
          <p:cNvCxnSpPr>
            <a:cxnSpLocks/>
          </p:cNvCxnSpPr>
          <p:nvPr/>
        </p:nvCxnSpPr>
        <p:spPr>
          <a:xfrm>
            <a:off x="1792923" y="5138158"/>
            <a:ext cx="393705" cy="0"/>
          </a:xfrm>
          <a:prstGeom prst="straightConnector1">
            <a:avLst/>
          </a:prstGeom>
          <a:ln w="7620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xmlns="" id="{E09CA786-8E9B-E78D-FCA8-396C337BA892}"/>
              </a:ext>
            </a:extLst>
          </p:cNvPr>
          <p:cNvCxnSpPr>
            <a:cxnSpLocks/>
          </p:cNvCxnSpPr>
          <p:nvPr/>
        </p:nvCxnSpPr>
        <p:spPr>
          <a:xfrm>
            <a:off x="1792922" y="5900859"/>
            <a:ext cx="393705" cy="0"/>
          </a:xfrm>
          <a:prstGeom prst="straightConnector1">
            <a:avLst/>
          </a:prstGeom>
          <a:ln w="76200"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xmlns="" id="{55EBC8D6-2EEF-73D6-B302-378262721507}"/>
              </a:ext>
            </a:extLst>
          </p:cNvPr>
          <p:cNvSpPr txBox="1"/>
          <p:nvPr/>
        </p:nvSpPr>
        <p:spPr>
          <a:xfrm>
            <a:off x="2314529" y="4953492"/>
            <a:ext cx="299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Motivi psicologici</a:t>
            </a:r>
          </a:p>
        </p:txBody>
      </p:sp>
      <p:pic>
        <p:nvPicPr>
          <p:cNvPr id="24" name="Immagine 23" descr="Immagine che contiene testo, schermata, linea, Carattere&#10;&#10;Il contenuto generato dall'IA potrebbe non essere corretto.">
            <a:extLst>
              <a:ext uri="{FF2B5EF4-FFF2-40B4-BE49-F238E27FC236}">
                <a16:creationId xmlns:a16="http://schemas.microsoft.com/office/drawing/2014/main" xmlns="" id="{F200B2F0-2031-4309-044E-8729D334BB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109" y="4273452"/>
            <a:ext cx="2994976" cy="2426641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xmlns="" id="{E617AD09-F8C6-53E6-E9C3-654431F34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462" y="2033647"/>
            <a:ext cx="2974623" cy="1932775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xmlns="" id="{46E1D517-77BF-F8F7-3F5C-FE635EDA1969}"/>
              </a:ext>
            </a:extLst>
          </p:cNvPr>
          <p:cNvSpPr txBox="1"/>
          <p:nvPr/>
        </p:nvSpPr>
        <p:spPr>
          <a:xfrm>
            <a:off x="2313418" y="5716193"/>
            <a:ext cx="378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Concentrazione di Bitcoin: </a:t>
            </a:r>
            <a:r>
              <a:rPr lang="it-IT" dirty="0" err="1"/>
              <a:t>whales</a:t>
            </a:r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xmlns="" id="{D2C4C065-A295-5C57-6DF8-4FCCD4BC0B27}"/>
              </a:ext>
            </a:extLst>
          </p:cNvPr>
          <p:cNvSpPr txBox="1"/>
          <p:nvPr/>
        </p:nvSpPr>
        <p:spPr>
          <a:xfrm>
            <a:off x="278953" y="3114867"/>
            <a:ext cx="397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dirty="0"/>
              <a:t>Prezzo di </a:t>
            </a:r>
            <a:r>
              <a:rPr lang="it-IT" sz="1000" dirty="0">
                <a:solidFill>
                  <a:srgbClr val="0070C0"/>
                </a:solidFill>
              </a:rPr>
              <a:t>Bitcoin</a:t>
            </a:r>
            <a:r>
              <a:rPr lang="it-IT" sz="1000" dirty="0"/>
              <a:t> in USD negli ultimi 5 anni confrontato con </a:t>
            </a:r>
            <a:r>
              <a:rPr lang="it-IT" sz="1000" dirty="0">
                <a:solidFill>
                  <a:srgbClr val="C00000"/>
                </a:solidFill>
              </a:rPr>
              <a:t>S&amp;P 500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xmlns="" id="{8AB45177-CB35-3AF1-A37A-0CF7EF1A439D}"/>
              </a:ext>
            </a:extLst>
          </p:cNvPr>
          <p:cNvSpPr txBox="1"/>
          <p:nvPr/>
        </p:nvSpPr>
        <p:spPr>
          <a:xfrm>
            <a:off x="4252869" y="3114867"/>
            <a:ext cx="3792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dirty="0"/>
              <a:t>Prezzo di </a:t>
            </a:r>
            <a:r>
              <a:rPr lang="it-IT" sz="1000" dirty="0">
                <a:solidFill>
                  <a:srgbClr val="0070C0"/>
                </a:solidFill>
              </a:rPr>
              <a:t>Bitcoin</a:t>
            </a:r>
            <a:r>
              <a:rPr lang="it-IT" sz="1000" dirty="0"/>
              <a:t> in USD nell’ultimo anno confrontato con </a:t>
            </a:r>
            <a:r>
              <a:rPr lang="it-IT" sz="1000" dirty="0">
                <a:solidFill>
                  <a:srgbClr val="C00000"/>
                </a:solidFill>
              </a:rPr>
              <a:t>S&amp;P 500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xmlns="" id="{A3923560-2D06-ED04-E8C1-47CA2364E477}"/>
              </a:ext>
            </a:extLst>
          </p:cNvPr>
          <p:cNvSpPr txBox="1"/>
          <p:nvPr/>
        </p:nvSpPr>
        <p:spPr>
          <a:xfrm>
            <a:off x="8542254" y="3927904"/>
            <a:ext cx="2873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dirty="0"/>
              <a:t>Quantità totale di bitcoin minati</a:t>
            </a:r>
            <a:endParaRPr lang="it-IT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7433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xmlns="" id="{9EC0439B-A3B5-C363-09AB-021E5450AFF1}"/>
              </a:ext>
            </a:extLst>
          </p:cNvPr>
          <p:cNvSpPr txBox="1"/>
          <p:nvPr/>
        </p:nvSpPr>
        <p:spPr>
          <a:xfrm>
            <a:off x="315686" y="1508808"/>
            <a:ext cx="5998028" cy="4185761"/>
          </a:xfrm>
          <a:prstGeom prst="rect">
            <a:avLst/>
          </a:prstGeom>
          <a:solidFill>
            <a:srgbClr val="FFFFFF"/>
          </a:solidFill>
          <a:ln w="12700">
            <a:solidFill>
              <a:srgbClr val="05D9AF"/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/>
                </a:solidFill>
              </a:rPr>
              <a:t>import</a:t>
            </a:r>
            <a:r>
              <a:rPr lang="it-IT" sz="1400" dirty="0"/>
              <a:t> numpy </a:t>
            </a:r>
            <a:r>
              <a:rPr lang="it-IT" sz="1400" dirty="0">
                <a:solidFill>
                  <a:schemeClr val="accent2"/>
                </a:solidFill>
              </a:rPr>
              <a:t>as</a:t>
            </a:r>
            <a:r>
              <a:rPr lang="it-IT" sz="1400" dirty="0"/>
              <a:t> np</a:t>
            </a:r>
          </a:p>
          <a:p>
            <a:r>
              <a:rPr lang="it-IT" sz="1400" dirty="0">
                <a:solidFill>
                  <a:schemeClr val="accent2"/>
                </a:solidFill>
              </a:rPr>
              <a:t>import</a:t>
            </a:r>
            <a:r>
              <a:rPr lang="it-IT" sz="1400" dirty="0"/>
              <a:t> pandas </a:t>
            </a:r>
            <a:r>
              <a:rPr lang="it-IT" sz="1400" dirty="0">
                <a:solidFill>
                  <a:schemeClr val="accent2"/>
                </a:solidFill>
              </a:rPr>
              <a:t>as</a:t>
            </a:r>
            <a:r>
              <a:rPr lang="it-IT" sz="1400" dirty="0"/>
              <a:t> pd</a:t>
            </a:r>
          </a:p>
          <a:p>
            <a:r>
              <a:rPr lang="it-IT" sz="1400" dirty="0">
                <a:solidFill>
                  <a:schemeClr val="accent2"/>
                </a:solidFill>
              </a:rPr>
              <a:t>import</a:t>
            </a:r>
            <a:r>
              <a:rPr lang="it-IT" sz="1400" dirty="0"/>
              <a:t> yfinance </a:t>
            </a:r>
            <a:r>
              <a:rPr lang="it-IT" sz="1400" dirty="0">
                <a:solidFill>
                  <a:schemeClr val="accent2"/>
                </a:solidFill>
              </a:rPr>
              <a:t>as</a:t>
            </a:r>
            <a:r>
              <a:rPr lang="it-IT" sz="1400" dirty="0"/>
              <a:t> yf</a:t>
            </a:r>
          </a:p>
          <a:p>
            <a:r>
              <a:rPr lang="it-IT" sz="1400" dirty="0">
                <a:solidFill>
                  <a:schemeClr val="accent2"/>
                </a:solidFill>
              </a:rPr>
              <a:t>from</a:t>
            </a:r>
            <a:r>
              <a:rPr lang="it-IT" sz="1400" dirty="0"/>
              <a:t> arch </a:t>
            </a:r>
            <a:r>
              <a:rPr lang="it-IT" sz="1400" dirty="0">
                <a:solidFill>
                  <a:schemeClr val="accent2"/>
                </a:solidFill>
              </a:rPr>
              <a:t>import</a:t>
            </a:r>
            <a:r>
              <a:rPr lang="it-IT" sz="1400" dirty="0"/>
              <a:t> arch_model</a:t>
            </a:r>
          </a:p>
          <a:p>
            <a:endParaRPr lang="it-IT" sz="1400" dirty="0"/>
          </a:p>
          <a:p>
            <a:r>
              <a:rPr lang="it-IT" sz="1400" dirty="0"/>
              <a:t>data = yf.download(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'BTC-USD'</a:t>
            </a:r>
            <a:r>
              <a:rPr lang="it-IT" sz="1400" dirty="0"/>
              <a:t>, start=</a:t>
            </a:r>
            <a:r>
              <a:rPr lang="it-IT" sz="1400" dirty="0">
                <a:solidFill>
                  <a:srgbClr val="00B050"/>
                </a:solidFill>
              </a:rPr>
              <a:t>"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2023-01-01"</a:t>
            </a:r>
            <a:r>
              <a:rPr lang="it-IT" sz="1400" dirty="0"/>
              <a:t>, end=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"2025-01-01"</a:t>
            </a:r>
            <a:r>
              <a:rPr lang="it-IT" sz="1400" dirty="0"/>
              <a:t>)</a:t>
            </a:r>
          </a:p>
          <a:p>
            <a:endParaRPr lang="it-IT" sz="1400" dirty="0"/>
          </a:p>
          <a:p>
            <a:r>
              <a:rPr lang="it-IT" sz="1400" dirty="0"/>
              <a:t>data[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'Log_Ret'</a:t>
            </a:r>
            <a:r>
              <a:rPr lang="it-IT" sz="1400" dirty="0"/>
              <a:t>] = np.log(data[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'Close'</a:t>
            </a:r>
            <a:r>
              <a:rPr lang="it-IT" sz="1400" dirty="0"/>
              <a:t>] / data[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'Close'</a:t>
            </a:r>
            <a:r>
              <a:rPr lang="it-IT" sz="1400" dirty="0"/>
              <a:t>].shift(1))</a:t>
            </a:r>
          </a:p>
          <a:p>
            <a:r>
              <a:rPr lang="it-IT" sz="1400" dirty="0"/>
              <a:t>data[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'Log_Ret'</a:t>
            </a:r>
            <a:r>
              <a:rPr lang="it-IT" sz="1400" dirty="0"/>
              <a:t>] = data[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'Log_Ret'</a:t>
            </a:r>
            <a:r>
              <a:rPr lang="it-IT" sz="1400" dirty="0"/>
              <a:t>]*100</a:t>
            </a:r>
          </a:p>
          <a:p>
            <a:endParaRPr lang="it-IT" sz="1400" dirty="0"/>
          </a:p>
          <a:p>
            <a:r>
              <a:rPr lang="it-IT" sz="1400" dirty="0"/>
              <a:t>model = arch_model(data[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'Log_Ret'</a:t>
            </a:r>
            <a:r>
              <a:rPr lang="it-IT" sz="1400" dirty="0"/>
              <a:t>].dropna(), vol=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it-IT" sz="1400" dirty="0" err="1">
                <a:solidFill>
                  <a:schemeClr val="accent6">
                    <a:lumMod val="75000"/>
                  </a:schemeClr>
                </a:solidFill>
              </a:rPr>
              <a:t>Garch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',</a:t>
            </a:r>
            <a:r>
              <a:rPr lang="it-IT" sz="1400" dirty="0"/>
              <a:t> p=1, q=1)</a:t>
            </a:r>
          </a:p>
          <a:p>
            <a:r>
              <a:rPr lang="it-IT" sz="1400" dirty="0"/>
              <a:t>model_fitted = model.fit()</a:t>
            </a:r>
          </a:p>
          <a:p>
            <a:r>
              <a:rPr lang="it-IT" sz="1400" dirty="0"/>
              <a:t>forecast = model_fitted.forecast(horizon=30)</a:t>
            </a:r>
          </a:p>
          <a:p>
            <a:endParaRPr lang="it-IT" sz="1400" dirty="0"/>
          </a:p>
          <a:p>
            <a:r>
              <a:rPr lang="it-IT" sz="1400" dirty="0"/>
              <a:t>volatility_forecast = np.sqrt(forecast.variance.values[0, :]) /10</a:t>
            </a:r>
          </a:p>
          <a:p>
            <a:r>
              <a:rPr lang="it-IT" sz="1400" dirty="0">
                <a:solidFill>
                  <a:srgbClr val="7030A0"/>
                </a:solidFill>
              </a:rPr>
              <a:t>print </a:t>
            </a:r>
            <a:r>
              <a:rPr lang="it-IT" sz="1400" dirty="0"/>
              <a:t>(volatility_forecast)</a:t>
            </a:r>
          </a:p>
          <a:p>
            <a:endParaRPr lang="it-IT" sz="1400" dirty="0"/>
          </a:p>
          <a:p>
            <a:r>
              <a:rPr lang="it-IT" sz="1400" dirty="0"/>
              <a:t>volatility=np.mean(volatility_forecast)</a:t>
            </a:r>
          </a:p>
          <a:p>
            <a:r>
              <a:rPr lang="it-IT" sz="1400" dirty="0">
                <a:solidFill>
                  <a:srgbClr val="7030A0"/>
                </a:solidFill>
              </a:rPr>
              <a:t>print</a:t>
            </a:r>
            <a:r>
              <a:rPr lang="it-IT" sz="1400" dirty="0"/>
              <a:t> (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f"Volatilità media sui prossimi 30 giorni: {volatility}"</a:t>
            </a:r>
            <a:r>
              <a:rPr lang="it-IT" sz="1400" dirty="0"/>
              <a:t>)</a:t>
            </a:r>
          </a:p>
        </p:txBody>
      </p:sp>
      <p:sp>
        <p:nvSpPr>
          <p:cNvPr id="7" name="Parentesi quadra chiusa 6">
            <a:extLst>
              <a:ext uri="{FF2B5EF4-FFF2-40B4-BE49-F238E27FC236}">
                <a16:creationId xmlns:a16="http://schemas.microsoft.com/office/drawing/2014/main" xmlns="" id="{52EC2C8F-62FF-6213-90C5-57FBFEB1F28D}"/>
              </a:ext>
            </a:extLst>
          </p:cNvPr>
          <p:cNvSpPr/>
          <p:nvPr/>
        </p:nvSpPr>
        <p:spPr>
          <a:xfrm>
            <a:off x="4019714" y="2997178"/>
            <a:ext cx="2669559" cy="540364"/>
          </a:xfrm>
          <a:prstGeom prst="rightBracket">
            <a:avLst/>
          </a:prstGeom>
          <a:ln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xmlns="" id="{FB83B6F9-33E1-031F-1F2C-A0735F6B3587}"/>
                  </a:ext>
                </a:extLst>
              </p:cNvPr>
              <p:cNvSpPr txBox="1"/>
              <p:nvPr/>
            </p:nvSpPr>
            <p:spPr>
              <a:xfrm>
                <a:off x="8423260" y="2848966"/>
                <a:ext cx="2264658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𝐿𝑜𝑔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𝑅𝑒𝑡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it-IT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it-IT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B83B6F9-33E1-031F-1F2C-A0735F6B3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260" y="2848966"/>
                <a:ext cx="2264658" cy="6223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ttore 2 12">
            <a:extLst>
              <a:ext uri="{FF2B5EF4-FFF2-40B4-BE49-F238E27FC236}">
                <a16:creationId xmlns:a16="http://schemas.microsoft.com/office/drawing/2014/main" xmlns="" id="{AC1217CC-9448-E2A9-D533-4A7930B29BEE}"/>
              </a:ext>
            </a:extLst>
          </p:cNvPr>
          <p:cNvCxnSpPr>
            <a:cxnSpLocks/>
            <a:stCxn id="7" idx="2"/>
            <a:endCxn id="11" idx="1"/>
          </p:cNvCxnSpPr>
          <p:nvPr/>
        </p:nvCxnSpPr>
        <p:spPr>
          <a:xfrm flipV="1">
            <a:off x="6689273" y="3160141"/>
            <a:ext cx="1733987" cy="107219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arentesi quadra chiusa 19">
            <a:extLst>
              <a:ext uri="{FF2B5EF4-FFF2-40B4-BE49-F238E27FC236}">
                <a16:creationId xmlns:a16="http://schemas.microsoft.com/office/drawing/2014/main" xmlns="" id="{9019E1D3-65F8-5818-B40E-1B93C9A07069}"/>
              </a:ext>
            </a:extLst>
          </p:cNvPr>
          <p:cNvSpPr/>
          <p:nvPr/>
        </p:nvSpPr>
        <p:spPr>
          <a:xfrm>
            <a:off x="4019715" y="3601688"/>
            <a:ext cx="2691328" cy="1427512"/>
          </a:xfrm>
          <a:prstGeom prst="rightBracket">
            <a:avLst/>
          </a:prstGeom>
          <a:ln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xmlns="" id="{6F854F06-21BE-D0AF-5409-ECB3A730B0BD}"/>
              </a:ext>
            </a:extLst>
          </p:cNvPr>
          <p:cNvSpPr txBox="1"/>
          <p:nvPr/>
        </p:nvSpPr>
        <p:spPr>
          <a:xfrm>
            <a:off x="8409215" y="4159369"/>
            <a:ext cx="269132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dirty="0"/>
              <a:t>Creo modello GARCH e lo alleno sui dati storici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xmlns="" id="{AD8B6639-65AF-3D38-A2D3-3D8AC2FA9EC8}"/>
              </a:ext>
            </a:extLst>
          </p:cNvPr>
          <p:cNvCxnSpPr>
            <a:cxnSpLocks/>
            <a:stCxn id="20" idx="2"/>
            <a:endCxn id="21" idx="1"/>
          </p:cNvCxnSpPr>
          <p:nvPr/>
        </p:nvCxnSpPr>
        <p:spPr>
          <a:xfrm>
            <a:off x="6711043" y="4315444"/>
            <a:ext cx="1698172" cy="120924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xmlns="" id="{79F82AE0-D198-EE52-C7B1-AFE88A0ECC06}"/>
              </a:ext>
            </a:extLst>
          </p:cNvPr>
          <p:cNvSpPr txBox="1"/>
          <p:nvPr/>
        </p:nvSpPr>
        <p:spPr>
          <a:xfrm>
            <a:off x="1903256" y="172203"/>
            <a:ext cx="9089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Deviazione Standard: GARCH(1,1)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xmlns="" id="{10FA4CB3-80F7-C503-0472-6028A71F233F}"/>
                  </a:ext>
                </a:extLst>
              </p:cNvPr>
              <p:cNvSpPr txBox="1"/>
              <p:nvPr/>
            </p:nvSpPr>
            <p:spPr>
              <a:xfrm>
                <a:off x="4019715" y="985205"/>
                <a:ext cx="4389500" cy="3754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24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it-IT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it-IT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0FA4CB3-80F7-C503-0472-6028A71F2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715" y="985205"/>
                <a:ext cx="4389500" cy="375487"/>
              </a:xfrm>
              <a:prstGeom prst="rect">
                <a:avLst/>
              </a:prstGeom>
              <a:blipFill>
                <a:blip r:embed="rId3"/>
                <a:stretch>
                  <a:fillRect t="-1639" b="-34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sellaDiTesto 28">
            <a:extLst>
              <a:ext uri="{FF2B5EF4-FFF2-40B4-BE49-F238E27FC236}">
                <a16:creationId xmlns:a16="http://schemas.microsoft.com/office/drawing/2014/main" xmlns="" id="{D8306A3A-A8A6-6D5A-F6B0-F90FE70295D1}"/>
              </a:ext>
            </a:extLst>
          </p:cNvPr>
          <p:cNvSpPr txBox="1"/>
          <p:nvPr/>
        </p:nvSpPr>
        <p:spPr>
          <a:xfrm>
            <a:off x="7959201" y="2031179"/>
            <a:ext cx="3263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Scarico dati dal 2023 al 2025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xmlns="" id="{1118F58F-2ECB-A8B1-53A7-A13C9B1BF899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4920343" y="5575254"/>
            <a:ext cx="2742224" cy="0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xmlns="" id="{0CA5A70B-FBB6-1442-B82F-BCAEF14943CF}"/>
              </a:ext>
            </a:extLst>
          </p:cNvPr>
          <p:cNvSpPr txBox="1"/>
          <p:nvPr/>
        </p:nvSpPr>
        <p:spPr>
          <a:xfrm>
            <a:off x="7662567" y="5390588"/>
            <a:ext cx="421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Faccio la media delle volatilità predette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xmlns="" id="{DBA6A395-F65E-A076-8E0E-3EB923726BC6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6154056" y="2215845"/>
            <a:ext cx="1805145" cy="387649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xmlns="" id="{1B62B1CA-1600-6AFA-836D-D51C4D2C2990}"/>
              </a:ext>
            </a:extLst>
          </p:cNvPr>
          <p:cNvSpPr txBox="1"/>
          <p:nvPr/>
        </p:nvSpPr>
        <p:spPr>
          <a:xfrm>
            <a:off x="2715985" y="6369455"/>
            <a:ext cx="14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i="0" dirty="0">
                <a:effectLst/>
                <a:latin typeface="Menlo"/>
              </a:rPr>
              <a:t>0.2501342</a:t>
            </a:r>
          </a:p>
        </p:txBody>
      </p: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xmlns="" id="{D58FBD34-601B-BFAC-0743-979D15D9640D}"/>
              </a:ext>
            </a:extLst>
          </p:cNvPr>
          <p:cNvCxnSpPr>
            <a:cxnSpLocks/>
          </p:cNvCxnSpPr>
          <p:nvPr/>
        </p:nvCxnSpPr>
        <p:spPr>
          <a:xfrm>
            <a:off x="3342082" y="5990223"/>
            <a:ext cx="0" cy="379232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93051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xmlns="" id="{926E6FB1-2736-3FC3-D13C-D3A4F1A4559E}"/>
              </a:ext>
            </a:extLst>
          </p:cNvPr>
          <p:cNvSpPr txBox="1"/>
          <p:nvPr/>
        </p:nvSpPr>
        <p:spPr>
          <a:xfrm>
            <a:off x="2569029" y="5044325"/>
            <a:ext cx="7053942" cy="738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5D9AF"/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 dirty="0"/>
              <a:t>last_3_months = </a:t>
            </a:r>
            <a:r>
              <a:rPr lang="it-IT" sz="1400" dirty="0" err="1"/>
              <a:t>data.loc</a:t>
            </a:r>
            <a:r>
              <a:rPr lang="it-IT" sz="1400" dirty="0"/>
              <a:t>[</a:t>
            </a:r>
            <a:r>
              <a:rPr lang="it-IT" sz="1400" dirty="0" err="1"/>
              <a:t>data.index</a:t>
            </a:r>
            <a:r>
              <a:rPr lang="it-IT" sz="1400" dirty="0"/>
              <a:t>  &gt;  (</a:t>
            </a:r>
            <a:r>
              <a:rPr lang="it-IT" sz="1400" dirty="0" err="1"/>
              <a:t>data.index</a:t>
            </a:r>
            <a:r>
              <a:rPr lang="it-IT" sz="1400" dirty="0"/>
              <a:t>[-1]  -  </a:t>
            </a:r>
            <a:r>
              <a:rPr lang="it-IT" sz="1400" dirty="0" err="1"/>
              <a:t>pd.DateOffset</a:t>
            </a:r>
            <a:r>
              <a:rPr lang="it-IT" sz="1400" dirty="0"/>
              <a:t>(</a:t>
            </a:r>
            <a:r>
              <a:rPr lang="it-IT" sz="1400" dirty="0" err="1"/>
              <a:t>months</a:t>
            </a:r>
            <a:r>
              <a:rPr lang="it-IT" sz="1400" dirty="0"/>
              <a:t>=3))]</a:t>
            </a:r>
          </a:p>
          <a:p>
            <a:r>
              <a:rPr lang="it-IT" sz="1400" dirty="0"/>
              <a:t>mu = last_3_months[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'Log_Ret'</a:t>
            </a:r>
            <a:r>
              <a:rPr lang="it-IT" sz="1400" dirty="0"/>
              <a:t>].</a:t>
            </a:r>
            <a:r>
              <a:rPr lang="it-IT" sz="1400" dirty="0" err="1"/>
              <a:t>mean</a:t>
            </a:r>
            <a:r>
              <a:rPr lang="it-IT" sz="1400" dirty="0"/>
              <a:t>()/100</a:t>
            </a:r>
          </a:p>
          <a:p>
            <a:r>
              <a:rPr lang="it-IT" sz="1400" dirty="0">
                <a:solidFill>
                  <a:srgbClr val="7030A0"/>
                </a:solidFill>
              </a:rPr>
              <a:t>print</a:t>
            </a:r>
            <a:r>
              <a:rPr lang="it-IT" sz="1400" dirty="0"/>
              <a:t> (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f "Mu calcolato sugli ultimi 3 mesi:  {mu}"</a:t>
            </a:r>
            <a:r>
              <a:rPr lang="it-IT" sz="1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xmlns="" id="{9B05F113-BC03-4C9A-FB01-5654BBD959AB}"/>
                  </a:ext>
                </a:extLst>
              </p:cNvPr>
              <p:cNvSpPr txBox="1"/>
              <p:nvPr/>
            </p:nvSpPr>
            <p:spPr>
              <a:xfrm>
                <a:off x="4050107" y="3768628"/>
                <a:ext cx="4146550" cy="908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it-IT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=  </m:t>
                          </m:r>
                        </m:e>
                      </m:nary>
                      <m:sSub>
                        <m:sSubPr>
                          <m:ctrlPr>
                            <a:rPr lang="it-IT" i="1" smtClean="0">
                              <a:latin typeface="Cambria Math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it-IT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it-IT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𝐿𝑜𝑔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𝑅𝑒𝑡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  <m:sub/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B05F113-BC03-4C9A-FB01-5654BBD95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107" y="3768628"/>
                <a:ext cx="4146550" cy="908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xmlns="" id="{1F3F5F1F-5789-C5E8-83BB-93DD71E28090}"/>
              </a:ext>
            </a:extLst>
          </p:cNvPr>
          <p:cNvSpPr txBox="1"/>
          <p:nvPr/>
        </p:nvSpPr>
        <p:spPr>
          <a:xfrm>
            <a:off x="592364" y="322729"/>
            <a:ext cx="11007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Rendimento atteso: media dei rendimenti logaritmici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xmlns="" id="{077186E1-E6B6-8A74-1DA2-1C88ED4E7A42}"/>
              </a:ext>
            </a:extLst>
          </p:cNvPr>
          <p:cNvSpPr txBox="1"/>
          <p:nvPr/>
        </p:nvSpPr>
        <p:spPr>
          <a:xfrm>
            <a:off x="5497285" y="6231255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i="0" dirty="0">
                <a:effectLst/>
                <a:latin typeface="Menlo"/>
              </a:rPr>
              <a:t>0.0042266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xmlns="" id="{5792884F-67AB-F216-2AB6-45702467EBB7}"/>
              </a:ext>
            </a:extLst>
          </p:cNvPr>
          <p:cNvCxnSpPr>
            <a:cxnSpLocks/>
          </p:cNvCxnSpPr>
          <p:nvPr/>
        </p:nvCxnSpPr>
        <p:spPr>
          <a:xfrm>
            <a:off x="6123382" y="5852023"/>
            <a:ext cx="0" cy="379232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magine 12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xmlns="" id="{D07778A6-4858-F3FC-F979-B795C5F4BE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28" y="1104142"/>
            <a:ext cx="3386865" cy="2349068"/>
          </a:xfrm>
          <a:prstGeom prst="rect">
            <a:avLst/>
          </a:prstGeom>
        </p:spPr>
      </p:pic>
      <p:pic>
        <p:nvPicPr>
          <p:cNvPr id="15" name="Immagine 14" descr="Immagine che contiene schermata, Diagramma, linea, Carattere&#10;&#10;Il contenuto generato dall'IA potrebbe non essere corretto.">
            <a:extLst>
              <a:ext uri="{FF2B5EF4-FFF2-40B4-BE49-F238E27FC236}">
                <a16:creationId xmlns:a16="http://schemas.microsoft.com/office/drawing/2014/main" xmlns="" id="{59936905-4491-A247-4C59-DBEE907148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71" y="1128782"/>
            <a:ext cx="5826132" cy="22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37119"/>
      </p:ext>
    </p:extLst>
  </p:cSld>
  <p:clrMapOvr>
    <a:masterClrMapping/>
  </p:clrMapOvr>
  <p:transition spd="slow">
    <p:push dir="u"/>
  </p:transition>
  <p:extLst mod="1">
    <p:ext uri="{6950BFC3-D8DA-4A85-94F7-54DA5524770B}">
      <p188:commentRel xmlns:p188="http://schemas.microsoft.com/office/powerpoint/2018/8/main" xmlns="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xmlns="" id="{4E944B30-1E64-4B9D-B38B-0C47B2A5A81F}"/>
              </a:ext>
            </a:extLst>
          </p:cNvPr>
          <p:cNvSpPr txBox="1"/>
          <p:nvPr/>
        </p:nvSpPr>
        <p:spPr>
          <a:xfrm>
            <a:off x="2177143" y="183012"/>
            <a:ext cx="8218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Modello finale e considerazioni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xmlns="" id="{749DDA58-F4C8-52B8-0E3B-0EAA3B56A8DD}"/>
              </a:ext>
            </a:extLst>
          </p:cNvPr>
          <p:cNvSpPr txBox="1"/>
          <p:nvPr/>
        </p:nvSpPr>
        <p:spPr>
          <a:xfrm>
            <a:off x="1244438" y="5827310"/>
            <a:ext cx="994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dirty="0"/>
              <a:t>La volatilità e i rendimenti attesi sono assunti costanti </a:t>
            </a:r>
          </a:p>
          <a:p>
            <a:pPr marL="285750" indent="-285750">
              <a:buFontTx/>
              <a:buChar char="-"/>
            </a:pPr>
            <a:r>
              <a:rPr lang="it-IT" dirty="0"/>
              <a:t>Difficoltà nel fare previsioni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7A2D5E21-8230-989D-23E9-65BB72125539}"/>
              </a:ext>
            </a:extLst>
          </p:cNvPr>
          <p:cNvSpPr txBox="1"/>
          <p:nvPr/>
        </p:nvSpPr>
        <p:spPr>
          <a:xfrm>
            <a:off x="1237928" y="4564808"/>
            <a:ext cx="7692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dirty="0"/>
              <a:t>Flessibilità</a:t>
            </a:r>
          </a:p>
          <a:p>
            <a:pPr marL="285750" indent="-285750">
              <a:buFontTx/>
              <a:buChar char="-"/>
            </a:pPr>
            <a:r>
              <a:rPr lang="it-IT" dirty="0"/>
              <a:t>Applicabilità a contesti diversi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xmlns="" id="{44EF67DB-C0DA-EFD0-56F5-2FF6C0D7C852}"/>
              </a:ext>
            </a:extLst>
          </p:cNvPr>
          <p:cNvSpPr txBox="1"/>
          <p:nvPr/>
        </p:nvSpPr>
        <p:spPr>
          <a:xfrm>
            <a:off x="1244439" y="5474030"/>
            <a:ext cx="137176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5D9AF"/>
                </a:solidFill>
              </a:rPr>
              <a:t>Limiti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xmlns="" id="{2CFBDF99-CF43-08E0-322C-DCC1A669DD89}"/>
              </a:ext>
            </a:extLst>
          </p:cNvPr>
          <p:cNvSpPr txBox="1"/>
          <p:nvPr/>
        </p:nvSpPr>
        <p:spPr>
          <a:xfrm>
            <a:off x="1244439" y="4143309"/>
            <a:ext cx="137176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5D9AF"/>
                </a:solidFill>
              </a:rPr>
              <a:t>Vantaggi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xmlns="" id="{10D603BC-6289-7465-3078-19FB10744AB5}"/>
              </a:ext>
            </a:extLst>
          </p:cNvPr>
          <p:cNvCxnSpPr>
            <a:cxnSpLocks/>
          </p:cNvCxnSpPr>
          <p:nvPr/>
        </p:nvCxnSpPr>
        <p:spPr>
          <a:xfrm>
            <a:off x="1244439" y="4514906"/>
            <a:ext cx="8877300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xmlns="" id="{37214E4B-CB3E-2F6F-9802-67D07D43737B}"/>
              </a:ext>
            </a:extLst>
          </p:cNvPr>
          <p:cNvCxnSpPr>
            <a:cxnSpLocks/>
          </p:cNvCxnSpPr>
          <p:nvPr/>
        </p:nvCxnSpPr>
        <p:spPr>
          <a:xfrm>
            <a:off x="1244439" y="5816656"/>
            <a:ext cx="8877300" cy="0"/>
          </a:xfrm>
          <a:prstGeom prst="line">
            <a:avLst/>
          </a:prstGeom>
          <a:ln w="28575">
            <a:solidFill>
              <a:srgbClr val="05D9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xmlns="" id="{F791A810-11FB-DBD4-6D3C-E20A8E6F9E9B}"/>
                  </a:ext>
                </a:extLst>
              </p:cNvPr>
              <p:cNvSpPr txBox="1"/>
              <p:nvPr/>
            </p:nvSpPr>
            <p:spPr>
              <a:xfrm>
                <a:off x="304346" y="1884870"/>
                <a:ext cx="1811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1800" b="1" i="1" smtClean="0">
                            <a:solidFill>
                              <a:srgbClr val="836967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sz="18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it-IT" sz="18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it-IT" sz="1800" b="1" i="0" dirty="0">
                    <a:effectLst/>
                    <a:latin typeface="Menlo"/>
                  </a:rPr>
                  <a:t> = 0.2501342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F791A810-11FB-DBD4-6D3C-E20A8E6F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46" y="1884870"/>
                <a:ext cx="1811565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xmlns="" id="{9614D353-C2E2-BDB5-ABA3-55F4675A17B8}"/>
                  </a:ext>
                </a:extLst>
              </p:cNvPr>
              <p:cNvSpPr txBox="1"/>
              <p:nvPr/>
            </p:nvSpPr>
            <p:spPr>
              <a:xfrm>
                <a:off x="365153" y="2434008"/>
                <a:ext cx="1750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it-IT" sz="18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800" b="1" i="0" dirty="0">
                    <a:effectLst/>
                    <a:latin typeface="Menlo"/>
                  </a:rPr>
                  <a:t>= 0.0042266</a:t>
                </a: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9614D353-C2E2-BDB5-ABA3-55F4675A1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53" y="2434008"/>
                <a:ext cx="1750758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sellaDiTesto 21">
            <a:extLst>
              <a:ext uri="{FF2B5EF4-FFF2-40B4-BE49-F238E27FC236}">
                <a16:creationId xmlns:a16="http://schemas.microsoft.com/office/drawing/2014/main" xmlns="" id="{36AC219C-E603-2007-9C76-BEBE285DE0CB}"/>
              </a:ext>
            </a:extLst>
          </p:cNvPr>
          <p:cNvSpPr txBox="1"/>
          <p:nvPr/>
        </p:nvSpPr>
        <p:spPr>
          <a:xfrm>
            <a:off x="2986570" y="1884870"/>
            <a:ext cx="122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i="0" dirty="0">
                <a:effectLst/>
                <a:latin typeface="Menlo"/>
              </a:rPr>
              <a:t>4.778727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xmlns="" id="{77093B05-4195-E939-8512-86AAEC2D6EE5}"/>
              </a:ext>
            </a:extLst>
          </p:cNvPr>
          <p:cNvSpPr txBox="1"/>
          <p:nvPr/>
        </p:nvSpPr>
        <p:spPr>
          <a:xfrm>
            <a:off x="2986570" y="2434008"/>
            <a:ext cx="122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i="0" dirty="0">
                <a:effectLst/>
                <a:latin typeface="Menlo"/>
              </a:rPr>
              <a:t>1.542490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xmlns="" id="{7256209A-4B60-F46E-7359-4280FA7EB91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2115911" y="2069536"/>
            <a:ext cx="870659" cy="0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xmlns="" id="{A224F907-21AA-592B-0AA8-94911F697A09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2115911" y="2618674"/>
            <a:ext cx="870659" cy="0"/>
          </a:xfrm>
          <a:prstGeom prst="straightConnector1">
            <a:avLst/>
          </a:prstGeom>
          <a:ln>
            <a:solidFill>
              <a:srgbClr val="05D9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xmlns="" id="{8335F639-E7CC-6BB1-4379-55E2376536D8}"/>
                  </a:ext>
                </a:extLst>
              </p:cNvPr>
              <p:cNvSpPr txBox="1"/>
              <p:nvPr/>
            </p:nvSpPr>
            <p:spPr>
              <a:xfrm>
                <a:off x="2194605" y="2351509"/>
                <a:ext cx="58102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3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it-IT" sz="1300" b="1" i="1" smtClean="0">
                          <a:latin typeface="Cambria Math" panose="02040503050406030204" pitchFamily="18" charset="0"/>
                        </a:rPr>
                        <m:t>𝟑𝟔𝟓</m:t>
                      </m:r>
                    </m:oMath>
                  </m:oMathPara>
                </a14:m>
                <a:endParaRPr lang="it-IT" sz="1300" b="1" dirty="0"/>
              </a:p>
            </p:txBody>
          </p:sp>
        </mc:Choice>
        <mc:Fallback xmlns=""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8335F639-E7CC-6BB1-4379-55E237653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605" y="2351509"/>
                <a:ext cx="581025" cy="292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xmlns="" id="{C573B21C-9425-BC55-4FFF-AF4F13B2A685}"/>
                  </a:ext>
                </a:extLst>
              </p:cNvPr>
              <p:cNvSpPr txBox="1"/>
              <p:nvPr/>
            </p:nvSpPr>
            <p:spPr>
              <a:xfrm>
                <a:off x="2168444" y="1767034"/>
                <a:ext cx="581025" cy="32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300" b="1" i="1" smtClean="0">
                          <a:latin typeface="Cambria Math" panose="02040503050406030204" pitchFamily="18" charset="0"/>
                        </a:rPr>
                        <m:t>∗</m:t>
                      </m:r>
                      <m:rad>
                        <m:radPr>
                          <m:degHide m:val="on"/>
                          <m:ctrlPr>
                            <a:rPr lang="it-IT" sz="1300" b="1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300" b="1" i="1" smtClean="0">
                              <a:latin typeface="Cambria Math" panose="02040503050406030204" pitchFamily="18" charset="0"/>
                            </a:rPr>
                            <m:t>𝟑𝟔𝟓</m:t>
                          </m:r>
                        </m:e>
                      </m:rad>
                    </m:oMath>
                  </m:oMathPara>
                </a14:m>
                <a:endParaRPr lang="it-IT" sz="1300" b="1" dirty="0"/>
              </a:p>
            </p:txBody>
          </p:sp>
        </mc:Choice>
        <mc:Fallback xmlns="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C573B21C-9425-BC55-4FFF-AF4F13B2A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444" y="1767034"/>
                <a:ext cx="581025" cy="320088"/>
              </a:xfrm>
              <a:prstGeom prst="rect">
                <a:avLst/>
              </a:prstGeom>
              <a:blipFill>
                <a:blip r:embed="rId6"/>
                <a:stretch>
                  <a:fillRect r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Immagine 40" descr="Immagine che contiene diagramma, Diagramma, linea, testo&#10;&#10;Il contenuto generato dall'IA potrebbe non essere corretto.">
            <a:extLst>
              <a:ext uri="{FF2B5EF4-FFF2-40B4-BE49-F238E27FC236}">
                <a16:creationId xmlns:a16="http://schemas.microsoft.com/office/drawing/2014/main" xmlns="" id="{08A02B52-5365-9DB8-980B-E3220494EA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515" y="1033947"/>
            <a:ext cx="4381499" cy="32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4497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xmlns="" id="{90F77E46-C4F6-213D-457D-2FE61E9CF9C8}"/>
              </a:ext>
            </a:extLst>
          </p:cNvPr>
          <p:cNvSpPr txBox="1"/>
          <p:nvPr/>
        </p:nvSpPr>
        <p:spPr>
          <a:xfrm>
            <a:off x="2177143" y="183012"/>
            <a:ext cx="8218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5D9AF"/>
                </a:solidFill>
                <a:latin typeface="Aptos Black" panose="020F0502020204030204" pitchFamily="34" charset="0"/>
              </a:rPr>
              <a:t>Bibliografia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xmlns="" id="{2D9D006C-98A5-2515-4316-673CD7569919}"/>
              </a:ext>
            </a:extLst>
          </p:cNvPr>
          <p:cNvSpPr txBox="1"/>
          <p:nvPr/>
        </p:nvSpPr>
        <p:spPr>
          <a:xfrm>
            <a:off x="1275215" y="4861699"/>
            <a:ext cx="10022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6)   Alqassem, Israa &amp; Rahwan, Iyad &amp; Svetinovic, Davor. (2018). The Anti-Social </a:t>
            </a:r>
            <a:r>
              <a:rPr lang="it-IT" dirty="0" smtClean="0"/>
              <a:t>System                                  </a:t>
            </a:r>
            <a:r>
              <a:rPr lang="it-IT" dirty="0" smtClean="0">
                <a:solidFill>
                  <a:schemeClr val="bg1"/>
                </a:solidFill>
              </a:rPr>
              <a:t>.  </a:t>
            </a:r>
            <a:r>
              <a:rPr lang="it-IT" dirty="0" smtClean="0"/>
              <a:t>   </a:t>
            </a:r>
            <a:r>
              <a:rPr lang="it-IT" dirty="0" err="1" smtClean="0"/>
              <a:t>Properties</a:t>
            </a:r>
            <a:r>
              <a:rPr lang="it-IT" dirty="0"/>
              <a:t>:    </a:t>
            </a:r>
            <a:r>
              <a:rPr lang="it-IT" dirty="0">
                <a:solidFill>
                  <a:schemeClr val="bg1"/>
                </a:solidFill>
              </a:rPr>
              <a:t>.</a:t>
            </a:r>
            <a:r>
              <a:rPr lang="it-IT" dirty="0"/>
              <a:t>      Bitcoin Network Data Analysis.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xmlns="" id="{B71DF602-B102-641F-2677-2FB4B92D4D89}"/>
              </a:ext>
            </a:extLst>
          </p:cNvPr>
          <p:cNvSpPr txBox="1"/>
          <p:nvPr/>
        </p:nvSpPr>
        <p:spPr>
          <a:xfrm>
            <a:off x="1275215" y="1457940"/>
            <a:ext cx="10022568" cy="321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1800"/>
              </a:spcAft>
              <a:buAutoNum type="arabicParenR"/>
            </a:pPr>
            <a:r>
              <a:rPr lang="en-US" dirty="0"/>
              <a:t>Agbedeyi, O. D., Maliki, S. O., Asor, V. E. (2024), A Predictive Model for Digital Currencies Prices using Geometric Brownian Motion Stochastic Differential Equation: A Case Study of the Bitcoin. African Journal of Mathematics and Statistics Studies</a:t>
            </a:r>
          </a:p>
          <a:p>
            <a:pPr marL="342900" indent="-342900">
              <a:lnSpc>
                <a:spcPts val="1900"/>
              </a:lnSpc>
              <a:spcAft>
                <a:spcPts val="1800"/>
              </a:spcAft>
              <a:buAutoNum type="arabicParenR"/>
            </a:pPr>
            <a:r>
              <a:rPr lang="en-US" dirty="0"/>
              <a:t>Ciaian, P., Rajcaniova, M., &amp; Kancs, d’Artis. (2015). The economics of BitCoin price formation. Applied Economics, 48(19), 1799–1815. https://doi.org/10.1080/00036846.2015.1109038</a:t>
            </a:r>
            <a:endParaRPr lang="it-IT" dirty="0"/>
          </a:p>
          <a:p>
            <a:pPr marL="342900" indent="-342900">
              <a:lnSpc>
                <a:spcPts val="1900"/>
              </a:lnSpc>
              <a:spcAft>
                <a:spcPts val="1800"/>
              </a:spcAft>
              <a:buAutoNum type="arabicParenR"/>
            </a:pPr>
            <a:r>
              <a:rPr lang="it-IT" dirty="0"/>
              <a:t>Cacciafesta, F. (2013). Matematica finanziaria (classica e moderna). G. Giappichelli Editore.</a:t>
            </a:r>
          </a:p>
          <a:p>
            <a:pPr marL="342900" indent="-342900">
              <a:lnSpc>
                <a:spcPts val="1900"/>
              </a:lnSpc>
              <a:spcAft>
                <a:spcPts val="1800"/>
              </a:spcAft>
              <a:buAutoNum type="arabicParenR"/>
            </a:pPr>
            <a:r>
              <a:rPr lang="it-IT" dirty="0"/>
              <a:t>Härdle, Wolfgang Karl and Harvey, Campbell R. and Reule, Raphael C. G., Understanding Cryptocurrencies (March 26, 2019).</a:t>
            </a:r>
          </a:p>
          <a:p>
            <a:pPr marL="342900" indent="-342900">
              <a:lnSpc>
                <a:spcPts val="1900"/>
              </a:lnSpc>
              <a:spcAft>
                <a:spcPts val="1800"/>
              </a:spcAft>
              <a:buAutoNum type="arabicParenR"/>
            </a:pPr>
            <a:r>
              <a:rPr lang="it-IT" dirty="0"/>
              <a:t>Stock, J. H., Watson, M. W., &amp; Peracchi, F. (2020). Introduzione all'econometria (5ª ed.). Pearson.</a:t>
            </a:r>
          </a:p>
        </p:txBody>
      </p:sp>
    </p:spTree>
    <p:extLst>
      <p:ext uri="{BB962C8B-B14F-4D97-AF65-F5344CB8AC3E}">
        <p14:creationId xmlns:p14="http://schemas.microsoft.com/office/powerpoint/2010/main" val="26028601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</TotalTime>
  <Words>997</Words>
  <Application>Microsoft Office PowerPoint</Application>
  <PresentationFormat>Personalizzato</PresentationFormat>
  <Paragraphs>123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Federico Ciacio</dc:creator>
  <cp:lastModifiedBy>Federico Ciacio</cp:lastModifiedBy>
  <cp:revision>9</cp:revision>
  <dcterms:created xsi:type="dcterms:W3CDTF">2025-02-19T19:31:21Z</dcterms:created>
  <dcterms:modified xsi:type="dcterms:W3CDTF">2025-10-04T00:55:59Z</dcterms:modified>
</cp:coreProperties>
</file>